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7" r:id="rId4"/>
    <p:sldId id="259" r:id="rId5"/>
    <p:sldId id="264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44" autoAdjust="0"/>
    <p:restoredTop sz="94660"/>
  </p:normalViewPr>
  <p:slideViewPr>
    <p:cSldViewPr snapToGrid="0">
      <p:cViewPr>
        <p:scale>
          <a:sx n="115" d="100"/>
          <a:sy n="115" d="100"/>
        </p:scale>
        <p:origin x="50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7D2522-8A0C-4C4C-8687-64A04BB1C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417B7B1-FEE6-47EF-8587-0FF592E6D0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09288B-BEA7-4F73-9D99-7DB1003DE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719DEB-9802-4EBF-96DC-7DBFEDE3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88489C-BD1D-48AD-850D-B6F196CFF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803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930EE9-7A6E-4809-8B22-B43C65195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049B69-39BB-4D38-83C0-2542898F2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7B0A07-6C76-4E2B-95D7-C0105DEA1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35944D-6296-4144-8EDD-452949F2B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936F7A-5E95-4634-AD65-304C3EC73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8892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D4A78C-982F-45C9-82A1-344F8BBE2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40BB34-D024-4C58-9849-DDAF4F523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B105A2-B0DB-43CA-8909-FE5754DCC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2A6F11-E72D-4DAC-965B-BD31870E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9266DE-2231-42C0-9B4C-D9940796A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033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2BCC17-3DD9-4B30-8D47-4B86579B4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9CD02A-1483-4EE6-AE7F-3341EF253E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E76C3DC-17B4-4F23-8682-5F93E6DD1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B6C3241-9B5D-4685-8FAC-6B0C89B08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C7C779-61B4-43EF-88C7-1E689D8FD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595C58-FB3F-4EDD-8BF9-15C1CB0B8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0560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B6CAF7-8C5F-461F-A853-C59E2CB93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C329A4-0045-448D-80CB-4AF6EED0C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4B4981F-76DA-450C-9349-D98BBE841D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1D62AAA-2B9E-406C-B055-677EDDB6F9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76F746-84D9-471B-A876-143CFE151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837AD53-1EDE-47C4-9BD7-9E3501EF0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3C614F9-75D8-4595-BBE3-9E17BF258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362DAA7-8AEF-438E-B467-AB0CF8BA3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1264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470A60-6E6F-4D43-B3F9-F7DFE7D93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3E1B430-99EE-4C80-BD0B-21115CDF6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581380E-E09A-4F2E-AE90-B886999B2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44113F7-5C64-4913-A497-9B7BAAC7E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349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0D6E00B-AF4F-437A-B9AC-69DC42D6C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A3DBE2B-6038-4E71-B871-67839977D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708C83-3FAD-49AF-BDD8-D26FF2FBB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330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7B3823-B986-4A95-8F9F-D228F142A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4BB366-6AF4-427B-B2F6-DF33F5C1A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DD275EC-A5F9-4D1E-B78F-ED5059CD6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DFBF34-FC9D-4822-8700-C35F1FDC7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E15C81-3D78-4E35-A7C5-967BC8FFF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7993FB-637C-4D82-8E8F-38832849C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1811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13E798-2491-421D-84DB-4F38959A2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3717AE-095F-4DC3-B1B9-6C8562351B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19DBEB9-A024-453F-9B58-4FC151C0A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9135C8-DC33-481B-A91B-F3151991D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15C30D-2BB6-4689-BBE6-16F0CD0A4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226AD4-4425-4BB4-84D5-4ADB058A3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471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E072C1-3B26-4794-8AAC-0D3AEFF5B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EE193DA-4A17-4F39-A5EC-A8331F618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2860AD-D63B-4ACC-8CE4-58E13EA43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4CC770-B572-4F14-9FC4-521EA20D1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489D5A-D9A2-4941-ADBD-9314E20E8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460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45F7F7B-684A-4A2A-B44B-2A64C3562D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F96BFCB-FD5A-4460-9D66-9A78C593C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ABA282-60A8-4793-BA3C-CDD3F7D4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9C1F6-7819-4276-8CF8-A4838A687BA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98F096-0BE5-4C99-B411-6BB2ACABB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66FA51-95D8-4E6B-B156-CE09D47F0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18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F87BBE-0F10-4332-8581-0D803EF79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8FCA94-0E51-4688-A67B-3C25C82B6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5A2DB2-B0EB-484C-84F4-3E3AED35C0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F9C1F6-7819-4276-8CF8-A4838A687BA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0C7DA3-3705-4742-A505-B0B0CE072C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862BFD-2645-4B21-93D0-BBAC2DC40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E75FD-13B0-4CA7-9AE7-F68C56B0C7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6444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github.com/GNDavydov/kubernetes-ad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FB58B8-6901-4209-89EF-31B4D54376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3200" b="1" i="0" u="none" strike="noStrike" dirty="0">
                <a:solidFill>
                  <a:srgbClr val="000000"/>
                </a:solidFill>
                <a:effectLst/>
                <a:latin typeface="+mn-lt"/>
              </a:rPr>
              <a:t>Разработка средства обнаружения аномалий в </a:t>
            </a:r>
            <a:r>
              <a:rPr lang="ru-RU" sz="3200" b="1" i="0" u="none" strike="noStrike" dirty="0" err="1">
                <a:solidFill>
                  <a:srgbClr val="000000"/>
                </a:solidFill>
                <a:effectLst/>
                <a:latin typeface="+mn-lt"/>
              </a:rPr>
              <a:t>Kubernetes</a:t>
            </a:r>
            <a:r>
              <a:rPr lang="ru-RU" sz="3200" b="1" i="0" u="none" strike="noStrike" dirty="0">
                <a:solidFill>
                  <a:srgbClr val="000000"/>
                </a:solidFill>
                <a:effectLst/>
                <a:latin typeface="+mn-lt"/>
              </a:rPr>
              <a:t>-кластере на основе нейронных сетей</a:t>
            </a:r>
            <a:r>
              <a:rPr lang="ru-RU" sz="3200" b="1" i="0" dirty="0">
                <a:solidFill>
                  <a:srgbClr val="000000"/>
                </a:solidFill>
                <a:effectLst/>
                <a:latin typeface="+mn-lt"/>
              </a:rPr>
              <a:t>​</a:t>
            </a:r>
            <a:endParaRPr lang="ru-RU" sz="3200" b="1" dirty="0">
              <a:latin typeface="+mn-lt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834795-7DE4-44CD-98D0-048E6E663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7859"/>
            <a:ext cx="9144000" cy="1655762"/>
          </a:xfrm>
        </p:spPr>
        <p:txBody>
          <a:bodyPr/>
          <a:lstStyle/>
          <a:p>
            <a:pPr algn="ctr" rtl="0" fontAlgn="base"/>
            <a:r>
              <a:rPr lang="ru-RU" sz="1800" dirty="0">
                <a:solidFill>
                  <a:srgbClr val="000000"/>
                </a:solidFill>
                <a:latin typeface="+mj-lt"/>
              </a:rPr>
              <a:t>Студент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+mj-lt"/>
              </a:rPr>
              <a:t> группы ИУ8-121 Давыдов Г</a:t>
            </a:r>
            <a:r>
              <a:rPr lang="ru-RU" sz="1800" dirty="0">
                <a:solidFill>
                  <a:srgbClr val="000000"/>
                </a:solidFill>
                <a:latin typeface="+mj-lt"/>
              </a:rPr>
              <a:t>ригорий Никитич</a:t>
            </a:r>
            <a:endParaRPr lang="en-US" sz="1800" b="0" i="0" dirty="0">
              <a:solidFill>
                <a:srgbClr val="000000"/>
              </a:solidFill>
              <a:effectLst/>
              <a:latin typeface="+mj-lt"/>
            </a:endParaRPr>
          </a:p>
          <a:p>
            <a:pPr algn="ctr" rtl="0" fontAlgn="base"/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+mj-lt"/>
              </a:rPr>
              <a:t>Научный руководитель: старший преподаватель кафедры ИУ8 Гудков О</a:t>
            </a:r>
            <a:r>
              <a:rPr lang="ru-RU" sz="1800" dirty="0">
                <a:solidFill>
                  <a:srgbClr val="000000"/>
                </a:solidFill>
                <a:latin typeface="+mj-lt"/>
              </a:rPr>
              <a:t>лег Владимирович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+mj-lt"/>
              </a:rPr>
              <a:t>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0B8DD0-CF75-D272-79FE-90DA448B85B5}"/>
              </a:ext>
            </a:extLst>
          </p:cNvPr>
          <p:cNvSpPr txBox="1"/>
          <p:nvPr/>
        </p:nvSpPr>
        <p:spPr>
          <a:xfrm>
            <a:off x="5268690" y="6457890"/>
            <a:ext cx="16546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Москва, 2026</a:t>
            </a:r>
            <a:endParaRPr lang="en-RU" sz="2000" dirty="0"/>
          </a:p>
        </p:txBody>
      </p:sp>
      <p:pic>
        <p:nvPicPr>
          <p:cNvPr id="5" name="Picture 6" descr="Изображение выглядит как текст, Шрифт, снимок экрана, символ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D7661D0-C3CF-AB4A-5E0B-7A4D9649F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2563"/>
            <a:ext cx="12192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1355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B507C3-63FE-4386-AFF8-D04D89E19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387"/>
            <a:ext cx="10515600" cy="996213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+mn-lt"/>
                <a:cs typeface="Times New Roman" panose="02020603050405020304" pitchFamily="18" charset="0"/>
              </a:rPr>
              <a:t>Цель и задачи ВКР​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9D05A3-6342-4326-877E-F38536E0E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880" y="1052883"/>
            <a:ext cx="10916920" cy="5805117"/>
          </a:xfrm>
        </p:spPr>
        <p:txBody>
          <a:bodyPr>
            <a:noAutofit/>
          </a:bodyPr>
          <a:lstStyle/>
          <a:p>
            <a:pPr marL="0" indent="0" algn="l" rtl="0" fontAlgn="base">
              <a:buNone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Цель: </a:t>
            </a:r>
            <a:r>
              <a:rPr lang="ru-RU" sz="1800" b="1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marL="0" indent="0" fontAlgn="base">
              <a:buNone/>
            </a:pPr>
            <a:r>
              <a:rPr lang="ru-RU" sz="1800" dirty="0"/>
              <a:t>Повышение безопасности </a:t>
            </a:r>
            <a:r>
              <a:rPr lang="en-US" sz="1800" dirty="0"/>
              <a:t>Kubernetes-</a:t>
            </a:r>
            <a:r>
              <a:rPr lang="ru-RU" sz="1800" dirty="0"/>
              <a:t>кластера путём внедрения средства на основе нейронных сетей для обнаружения аномального поведения.</a:t>
            </a:r>
          </a:p>
          <a:p>
            <a:pPr marL="0" indent="0" fontAlgn="base">
              <a:buNone/>
            </a:pPr>
            <a:endParaRPr lang="ru-RU" sz="18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0" indent="0" algn="l" rtl="0" fontAlgn="base">
              <a:buNone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Задачи:</a:t>
            </a:r>
            <a:r>
              <a:rPr lang="ru-RU" sz="1800" b="1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Анализ методов обнаружения аномалий в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контейнерных средах;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Обзор и анализ существующих решений;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Формулировка математической постановки задачи и выбор метода решения;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Формирование набора данных для обучения моделей;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Обучение моделей нейронных сетей;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Сравнение полученных результатов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;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Разработка архитектуры системы обнаружения аномалий;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Реализация программного средства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;</a:t>
            </a:r>
          </a:p>
          <a:p>
            <a:pPr fontAlgn="base"/>
            <a:r>
              <a:rPr lang="ru-RU" sz="1800" dirty="0">
                <a:cs typeface="Times New Roman" panose="02020603050405020304" pitchFamily="18" charset="0"/>
              </a:rPr>
              <a:t>Обоснование экономической целесообразности  выпускной квалификационной работы</a:t>
            </a:r>
            <a:r>
              <a:rPr lang="en-US" sz="1800" dirty="0">
                <a:cs typeface="Times New Roman" panose="02020603050405020304" pitchFamily="18" charset="0"/>
              </a:rPr>
              <a:t>;</a:t>
            </a:r>
            <a:endParaRPr lang="ru-RU" sz="1800" dirty="0">
              <a:cs typeface="Times New Roman" panose="02020603050405020304" pitchFamily="18" charset="0"/>
            </a:endParaRPr>
          </a:p>
          <a:p>
            <a:pPr fontAlgn="base"/>
            <a:r>
              <a:rPr lang="ru-RU" sz="1800" dirty="0">
                <a:cs typeface="Times New Roman" panose="02020603050405020304" pitchFamily="18" charset="0"/>
              </a:rPr>
              <a:t>Анализ действующего законодательства Российской Федерации, регулирующего правовое обоснование выполнения выпускной квалификационной работы</a:t>
            </a:r>
            <a:r>
              <a:rPr lang="en-US" sz="1800" dirty="0">
                <a:cs typeface="Times New Roman" panose="02020603050405020304" pitchFamily="18" charset="0"/>
              </a:rPr>
              <a:t>.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endParaRPr lang="ru-RU" sz="18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29DBD63-DC22-F288-2E6F-7A93CD1896B6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614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4C8EC-2078-6A63-7AED-2AEDA42A5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074021-5A5A-5164-AF49-7638ABDF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387"/>
            <a:ext cx="10515600" cy="996213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+mn-lt"/>
                <a:cs typeface="Times New Roman" panose="02020603050405020304" pitchFamily="18" charset="0"/>
              </a:rPr>
              <a:t>Актуальность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47E5DBB-7FB7-6C43-FE74-847FB294C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8152" y="2236715"/>
            <a:ext cx="4877188" cy="3738900"/>
          </a:xfrm>
          <a:prstGeom prst="rect">
            <a:avLst/>
          </a:prstGeom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791D30B3-FE3B-72C6-9DA3-181D1A4CEFBA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537FBC7-5DF2-2156-EB76-06F3BDA725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05" y="2683541"/>
            <a:ext cx="6217239" cy="3503491"/>
          </a:xfrm>
          <a:prstGeom prst="rect">
            <a:avLst/>
          </a:prstGeom>
        </p:spPr>
      </p:pic>
      <p:sp>
        <p:nvSpPr>
          <p:cNvPr id="10" name="Объект 2">
            <a:extLst>
              <a:ext uri="{FF2B5EF4-FFF2-40B4-BE49-F238E27FC236}">
                <a16:creationId xmlns:a16="http://schemas.microsoft.com/office/drawing/2014/main" id="{B2AE78E6-051E-02E3-5861-B2E7D1D34857}"/>
              </a:ext>
            </a:extLst>
          </p:cNvPr>
          <p:cNvSpPr txBox="1">
            <a:spLocks/>
          </p:cNvSpPr>
          <p:nvPr/>
        </p:nvSpPr>
        <p:spPr>
          <a:xfrm>
            <a:off x="742784" y="6198553"/>
            <a:ext cx="5353216" cy="4458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ru-RU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Рост числа публичных </a:t>
            </a:r>
            <a:r>
              <a:rPr lang="en-US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API-</a:t>
            </a:r>
            <a:r>
              <a:rPr lang="ru-RU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сервисов </a:t>
            </a:r>
            <a:r>
              <a:rPr lang="en-US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Kubernetes</a:t>
            </a:r>
            <a:r>
              <a:rPr lang="ru-RU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en-RU" sz="1100" dirty="0"/>
              <a:t>https://www.wiz.io/blog/key-takeaways-from-the-wiz-2023-kubernetes-security-report</a:t>
            </a:r>
          </a:p>
          <a:p>
            <a:pPr marL="0" indent="0" fontAlgn="base">
              <a:buFont typeface="Arial" panose="020B0604020202020204" pitchFamily="34" charset="0"/>
              <a:buNone/>
            </a:pPr>
            <a:endParaRPr lang="ru-RU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C06478-D03B-D7C6-5D68-903B39F1068C}"/>
              </a:ext>
            </a:extLst>
          </p:cNvPr>
          <p:cNvSpPr txBox="1"/>
          <p:nvPr/>
        </p:nvSpPr>
        <p:spPr>
          <a:xfrm>
            <a:off x="2531327" y="16838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RU" dirty="0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4CF1F5B8-CB09-48AD-E3DB-E0B885F1FD3A}"/>
              </a:ext>
            </a:extLst>
          </p:cNvPr>
          <p:cNvSpPr txBox="1">
            <a:spLocks/>
          </p:cNvSpPr>
          <p:nvPr/>
        </p:nvSpPr>
        <p:spPr>
          <a:xfrm>
            <a:off x="6586288" y="5975615"/>
            <a:ext cx="5744681" cy="4458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ru-RU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Время до начала попыток атаки на </a:t>
            </a:r>
            <a:r>
              <a:rPr lang="en-US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API-</a:t>
            </a:r>
            <a:r>
              <a:rPr lang="ru-RU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сервис </a:t>
            </a:r>
            <a:r>
              <a:rPr lang="en-RU" sz="1200" dirty="0"/>
              <a:t>https://www.wiz.io/blog/key-takeaways-from-the-wiz-2023-kubernetes-security-report</a:t>
            </a: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EA05B7E4-F548-014B-8EDA-0D3D1C2AEFB2}"/>
              </a:ext>
            </a:extLst>
          </p:cNvPr>
          <p:cNvSpPr txBox="1">
            <a:spLocks/>
          </p:cNvSpPr>
          <p:nvPr/>
        </p:nvSpPr>
        <p:spPr>
          <a:xfrm>
            <a:off x="436880" y="1052884"/>
            <a:ext cx="10916920" cy="20128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endParaRPr lang="ru-RU" sz="18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491B03-EBCC-1AE2-759A-DFD0B8C8267C}"/>
              </a:ext>
            </a:extLst>
          </p:cNvPr>
          <p:cNvSpPr txBox="1"/>
          <p:nvPr/>
        </p:nvSpPr>
        <p:spPr>
          <a:xfrm>
            <a:off x="436880" y="973205"/>
            <a:ext cx="7313218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Корпоративные системы все чаще разворачиваются в контейнерных средах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Kubernetes </a:t>
            </a:r>
            <a:r>
              <a:rPr lang="ru-RU" sz="2000" dirty="0"/>
              <a:t>стал стандартом для управления контейнерами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Наблюдается рост числа атак на контейнерные инфраструктуры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3046534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AD6C4B-38E2-4871-8544-AC7623FCC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192"/>
            <a:ext cx="10515600" cy="1084765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Обзор методов</a:t>
            </a:r>
            <a:r>
              <a:rPr lang="ru-RU" sz="3600" b="1" i="0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6030B2-1866-4BDF-AF96-B4C6B3517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784" y="1237957"/>
            <a:ext cx="3570514" cy="5008098"/>
          </a:xfrm>
        </p:spPr>
        <p:txBody>
          <a:bodyPr>
            <a:noAutofit/>
          </a:bodyPr>
          <a:lstStyle/>
          <a:p>
            <a:pPr marL="0" indent="0" algn="l" rtl="0" fontAlgn="base">
              <a:buNone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Статические методы:</a:t>
            </a:r>
            <a:r>
              <a:rPr lang="ru-RU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Сигнатурный анализ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Правило-ориентированные методы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Пороговые методы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белых и чёрных списков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marL="0" indent="0" algn="l" rtl="0" fontAlgn="base">
              <a:buNone/>
            </a:pPr>
            <a:endParaRPr lang="ru-RU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rtl="0" fontAlgn="base">
              <a:buNone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Особенности: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 требуют обучения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Основаны на заранее заданных правилах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Эффективны для известных угроз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 выявляют новые типы атак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D88C8D59-84CA-4DC9-AAEC-C3006888E9B9}"/>
              </a:ext>
            </a:extLst>
          </p:cNvPr>
          <p:cNvSpPr txBox="1">
            <a:spLocks/>
          </p:cNvSpPr>
          <p:nvPr/>
        </p:nvSpPr>
        <p:spPr>
          <a:xfrm>
            <a:off x="4408714" y="1237957"/>
            <a:ext cx="3570514" cy="5303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 fontAlgn="base">
              <a:buNone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Машинное обучение:</a:t>
            </a:r>
            <a:r>
              <a:rPr lang="ru-RU" sz="1800" b="1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K-ближайших соседей (K-NN)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Isolation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Forest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Random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Cut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Forest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marL="0" indent="0" algn="l" rtl="0" fontAlgn="base">
              <a:buNone/>
            </a:pPr>
            <a:endParaRPr lang="ru-RU" sz="18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0" indent="0" algn="l" rtl="0" fontAlgn="base">
              <a:buNone/>
            </a:pPr>
            <a:endParaRPr lang="ru-RU" sz="18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0" indent="0" algn="l" rtl="0" fontAlgn="base">
              <a:buNone/>
            </a:pPr>
            <a:endParaRPr lang="ru-RU" sz="18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0" indent="0" algn="l" rtl="0" fontAlgn="base">
              <a:buNone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Особенности: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Выявление отклонений 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Подходит для поиска неизвестных аномалий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Требует качественных данных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Не учитывает временные зависимости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B51AC96E-74F2-42DB-A3FA-E5A15F5E0696}"/>
              </a:ext>
            </a:extLst>
          </p:cNvPr>
          <p:cNvSpPr txBox="1">
            <a:spLocks/>
          </p:cNvSpPr>
          <p:nvPr/>
        </p:nvSpPr>
        <p:spPr>
          <a:xfrm>
            <a:off x="8217437" y="1237956"/>
            <a:ext cx="3570514" cy="53035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 fontAlgn="base">
              <a:buNone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Нейронные сети:</a:t>
            </a:r>
            <a:r>
              <a:rPr lang="en-US" sz="1800" b="1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Рекуррентные нейронные сети (RNN)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Сети с долгой краткосрочной памятью (LSTM)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Автоэнкодеры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(AE)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marL="0" indent="0" algn="l" rtl="0" fontAlgn="base">
              <a:buNone/>
            </a:pPr>
            <a:endParaRPr lang="en-US" sz="18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0" indent="0" algn="l" rtl="0" fontAlgn="base">
              <a:buNone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Особенности: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Работа с последовательностями данных 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Учёт временных зависимостей 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Выявление сложных нелинейных аномалий 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Высокая точность на логах и метриках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5BA6CC06-F855-4038-BE22-3CFBB37E8907}"/>
              </a:ext>
            </a:extLst>
          </p:cNvPr>
          <p:cNvCxnSpPr>
            <a:cxnSpLocks/>
          </p:cNvCxnSpPr>
          <p:nvPr/>
        </p:nvCxnSpPr>
        <p:spPr>
          <a:xfrm>
            <a:off x="4313298" y="1237957"/>
            <a:ext cx="0" cy="5183535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9450320A-1C16-498B-89CA-33867A6EC702}"/>
              </a:ext>
            </a:extLst>
          </p:cNvPr>
          <p:cNvCxnSpPr>
            <a:cxnSpLocks/>
          </p:cNvCxnSpPr>
          <p:nvPr/>
        </p:nvCxnSpPr>
        <p:spPr>
          <a:xfrm>
            <a:off x="7979228" y="1237957"/>
            <a:ext cx="0" cy="5183535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Объект 2">
            <a:extLst>
              <a:ext uri="{FF2B5EF4-FFF2-40B4-BE49-F238E27FC236}">
                <a16:creationId xmlns:a16="http://schemas.microsoft.com/office/drawing/2014/main" id="{06DC3AB5-3777-8673-8B64-E0C47FC8071E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48597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05057E-466A-4E71-B7B6-4BE7FCAC5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156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Анализ существующих решений</a:t>
            </a:r>
            <a:r>
              <a:rPr lang="ru-RU" sz="3600" b="1" i="0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843B636-EDB3-4A06-B724-F0FAF3DE7E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4231586"/>
              </p:ext>
            </p:extLst>
          </p:nvPr>
        </p:nvGraphicFramePr>
        <p:xfrm>
          <a:off x="1042306" y="1690688"/>
          <a:ext cx="10311493" cy="3154167"/>
        </p:xfrm>
        <a:graphic>
          <a:graphicData uri="http://schemas.openxmlformats.org/drawingml/2006/table">
            <a:tbl>
              <a:tblPr/>
              <a:tblGrid>
                <a:gridCol w="1455215">
                  <a:extLst>
                    <a:ext uri="{9D8B030D-6E8A-4147-A177-3AD203B41FA5}">
                      <a16:colId xmlns:a16="http://schemas.microsoft.com/office/drawing/2014/main" val="3014374452"/>
                    </a:ext>
                  </a:extLst>
                </a:gridCol>
                <a:gridCol w="1321300">
                  <a:extLst>
                    <a:ext uri="{9D8B030D-6E8A-4147-A177-3AD203B41FA5}">
                      <a16:colId xmlns:a16="http://schemas.microsoft.com/office/drawing/2014/main" val="3363837146"/>
                    </a:ext>
                  </a:extLst>
                </a:gridCol>
                <a:gridCol w="2160503">
                  <a:extLst>
                    <a:ext uri="{9D8B030D-6E8A-4147-A177-3AD203B41FA5}">
                      <a16:colId xmlns:a16="http://schemas.microsoft.com/office/drawing/2014/main" val="2354702566"/>
                    </a:ext>
                  </a:extLst>
                </a:gridCol>
                <a:gridCol w="2490828">
                  <a:extLst>
                    <a:ext uri="{9D8B030D-6E8A-4147-A177-3AD203B41FA5}">
                      <a16:colId xmlns:a16="http://schemas.microsoft.com/office/drawing/2014/main" val="1885943284"/>
                    </a:ext>
                  </a:extLst>
                </a:gridCol>
                <a:gridCol w="2883647">
                  <a:extLst>
                    <a:ext uri="{9D8B030D-6E8A-4147-A177-3AD203B41FA5}">
                      <a16:colId xmlns:a16="http://schemas.microsoft.com/office/drawing/2014/main" val="411994412"/>
                    </a:ext>
                  </a:extLst>
                </a:gridCol>
              </a:tblGrid>
              <a:tr h="435112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Решение​</a:t>
                      </a:r>
                      <a:endParaRPr lang="ru-RU" b="1" i="0" dirty="0">
                        <a:solidFill>
                          <a:srgbClr val="FFFFFF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>
                          <a:solidFill>
                            <a:srgbClr val="FFFFFF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Подход​</a:t>
                      </a:r>
                      <a:endParaRPr lang="ru-RU" b="1" i="0">
                        <a:solidFill>
                          <a:srgbClr val="FFFFFF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>
                          <a:solidFill>
                            <a:srgbClr val="FFFFFF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Данные​</a:t>
                      </a:r>
                      <a:endParaRPr lang="ru-RU" b="1" i="0">
                        <a:solidFill>
                          <a:srgbClr val="FFFFFF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>
                          <a:solidFill>
                            <a:srgbClr val="FFFFFF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Плюсы​</a:t>
                      </a:r>
                      <a:endParaRPr lang="ru-RU" b="1" i="0">
                        <a:solidFill>
                          <a:srgbClr val="FFFFFF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Минусы​</a:t>
                      </a:r>
                      <a:endParaRPr lang="ru-RU" b="1" i="0" dirty="0">
                        <a:solidFill>
                          <a:srgbClr val="FFFFFF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223986"/>
                  </a:ext>
                </a:extLst>
              </a:tr>
              <a:tr h="869832">
                <a:tc>
                  <a:txBody>
                    <a:bodyPr/>
                    <a:lstStyle/>
                    <a:p>
                      <a:pPr algn="just" fontAlgn="base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GATAKU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GNN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сетевой трафик</a:t>
                      </a:r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высокая точность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высокая сложность</a:t>
                      </a:r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algn="just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плохая масштабируемость</a:t>
                      </a:r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66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722206"/>
                  </a:ext>
                </a:extLst>
              </a:tr>
              <a:tr h="761445">
                <a:tc>
                  <a:txBody>
                    <a:bodyPr/>
                    <a:lstStyle/>
                    <a:p>
                      <a:pPr algn="just" fontAlgn="base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KubAnomaly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MLP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метрики</a:t>
                      </a:r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высокая скорость</a:t>
                      </a:r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​</a:t>
                      </a:r>
                    </a:p>
                    <a:p>
                      <a:pPr algn="just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простота</a:t>
                      </a:r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работа с конкретными метриками​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763505"/>
                  </a:ext>
                </a:extLst>
              </a:tr>
              <a:tr h="1087778">
                <a:tc>
                  <a:txBody>
                    <a:bodyPr/>
                    <a:lstStyle/>
                    <a:p>
                      <a:pPr algn="just" fontAlgn="base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DeepLog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LSTM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журналы логирования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высокая точность​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algn="just" fontAlgn="base"/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отслеживание последовательностей​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долгий процесс обучения​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  <a:p>
                      <a:pPr algn="just" fontAlgn="base"/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Times New Roman" panose="02020603050405020304" pitchFamily="18" charset="0"/>
                        </a:rPr>
                        <a:t>требуется предобработка логов​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45770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04EE3F2-DE16-4ECE-ACD2-E123D6BE1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653144" y="-1079291"/>
            <a:ext cx="1428431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00C9A789-7472-476B-A875-828F2E65139B}"/>
              </a:ext>
            </a:extLst>
          </p:cNvPr>
          <p:cNvSpPr txBox="1">
            <a:spLocks/>
          </p:cNvSpPr>
          <p:nvPr/>
        </p:nvSpPr>
        <p:spPr>
          <a:xfrm>
            <a:off x="1042306" y="5047012"/>
            <a:ext cx="10311494" cy="1608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 fontAlgn="base">
              <a:buNone/>
            </a:pPr>
            <a:r>
              <a:rPr lang="ru-RU" sz="24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В рамках данной работы в качестве базового выбран подход, реализованный в системе </a:t>
            </a:r>
            <a:r>
              <a:rPr lang="ru-RU" sz="2400" b="1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DeepLog</a:t>
            </a:r>
            <a:r>
              <a:rPr lang="ru-RU" sz="24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, как наиболее подходящий для моделирования временных зависимостей.</a:t>
            </a:r>
            <a:r>
              <a:rPr lang="en-US" sz="24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31FA96-A463-1055-2BF0-0F94BB41D0C5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70434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4CCB42-7A48-441A-92F8-575F0945C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897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Математическая постановка задачи</a:t>
            </a:r>
            <a:r>
              <a:rPr lang="ru-RU" sz="3600" b="1" i="0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24AE187-AAB2-494C-8C5A-60ECEE61EA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6908"/>
                <a:ext cx="10515600" cy="5174583"/>
              </a:xfrm>
            </p:spPr>
            <p:txBody>
              <a:bodyPr>
                <a:noAutofit/>
              </a:bodyPr>
              <a:lstStyle/>
              <a:p>
                <a:pPr marL="0" indent="0" algn="l" rtl="0" fontAlgn="base">
                  <a:buNone/>
                </a:pPr>
                <a:r>
                  <a:rPr lang="ru-RU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Обнаружение аномалий в </a:t>
                </a:r>
                <a:r>
                  <a:rPr lang="en-US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audit-</a:t>
                </a:r>
                <a:r>
                  <a:rPr lang="ru-RU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логах </a:t>
                </a:r>
                <a:r>
                  <a:rPr lang="en-US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Kubernetes </a:t>
                </a:r>
                <a:r>
                  <a:rPr lang="ru-RU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сводится к задаче </a:t>
                </a:r>
                <a:r>
                  <a:rPr lang="ru-RU" sz="2000" b="1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бинарной классификации</a:t>
                </a:r>
                <a:r>
                  <a:rPr lang="en-US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fontAlgn="base">
                  <a:buNone/>
                </a:pPr>
                <a:r>
                  <a:rPr lang="ru-RU" sz="2000" b="1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Формализация данных</a:t>
                </a:r>
                <a:r>
                  <a:rPr lang="en-US" sz="2000" b="1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:</a:t>
                </a:r>
              </a:p>
              <a:p>
                <a:pPr fontAlgn="base"/>
                <a:r>
                  <a:rPr lang="ru-RU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Последовательность событий</a:t>
                </a:r>
                <a:r>
                  <a:rPr lang="en-US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:</a:t>
                </a:r>
                <a:r>
                  <a:rPr lang="ru-RU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 				</a:t>
                </a:r>
                <a14:m>
                  <m:oMath xmlns:m="http://schemas.openxmlformats.org/officeDocument/2006/math">
                    <m:r>
                      <a:rPr lang="ru-RU" sz="2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ℒ</m:t>
                    </m:r>
                    <m:r>
                      <a:rPr lang="ru-RU" sz="200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…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sz="2000" b="0" i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pPr fontAlgn="base"/>
                <a:r>
                  <a:rPr lang="ru-RU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Событие</a:t>
                </a:r>
                <a:r>
                  <a:rPr lang="en-US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:</a:t>
                </a:r>
                <a:r>
                  <a:rPr lang="ru-RU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ru-RU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ru-RU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pPr fontAlgn="base"/>
                <a:r>
                  <a:rPr lang="ru-RU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Признаковое пространство</a:t>
                </a:r>
                <a:r>
                  <a:rPr lang="en-US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: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ru-RU" sz="20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𝛷</m:t>
                    </m:r>
                    <m:d>
                      <m:d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ru-RU" sz="2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p>
                    </m:sSup>
                  </m:oMath>
                </a14:m>
                <a:endParaRPr lang="en-US" sz="200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pPr fontAlgn="base"/>
                <a:r>
                  <a:rPr lang="ru-RU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Множество архитектур</a:t>
                </a:r>
                <a:r>
                  <a:rPr lang="en-US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:	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ru-RU" sz="20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pPr fontAlgn="base"/>
                <a:r>
                  <a:rPr lang="ru-RU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Модель</a:t>
                </a:r>
                <a:r>
                  <a:rPr lang="en-US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:		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ru-RU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sz="20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200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pPr fontAlgn="base"/>
                <a:r>
                  <a:rPr lang="ru-RU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Показатели аномальности</a:t>
                </a:r>
                <a:r>
                  <a:rPr lang="en-US" sz="20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:	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ru-RU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)}</m:t>
                    </m:r>
                    <m:r>
                      <a:rPr lang="en-US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pPr marL="0" indent="0" fontAlgn="base">
                  <a:buNone/>
                </a:pPr>
                <a:endParaRPr lang="ru-RU" sz="200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pPr algn="l" rtl="0" fontAlgn="base">
                  <a:buFont typeface="+mj-lt"/>
                  <a:buAutoNum type="arabicPeriod"/>
                </a:pPr>
                <a:r>
                  <a:rPr lang="ru-RU" sz="2000" b="1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Обучение нейронной сети</a:t>
                </a:r>
                <a:r>
                  <a:rPr lang="en-US" sz="2000" b="1" i="0" dirty="0">
                    <a:solidFill>
                      <a:srgbClr val="000000"/>
                    </a:solidFill>
                    <a:effectLst/>
                    <a:cs typeface="Times New Roman" panose="02020603050405020304" pitchFamily="18" charset="0"/>
                  </a:rPr>
                  <a:t>​:</a:t>
                </a:r>
                <a:r>
                  <a:rPr lang="en-US" sz="2000" b="1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		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𝑣𝑎𝑙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den>
                            </m:f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ru-RU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ru-RU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lang="en-US" sz="2000" b="0" i="0" dirty="0">
                  <a:solidFill>
                    <a:srgbClr val="000000"/>
                  </a:solidFill>
                  <a:effectLst/>
                  <a:cs typeface="Times New Roman" panose="02020603050405020304" pitchFamily="18" charset="0"/>
                </a:endParaRPr>
              </a:p>
              <a:p>
                <a:pPr marL="0" indent="0" algn="l" rtl="0" fontAlgn="base">
                  <a:buNone/>
                </a:pPr>
                <a:endParaRPr lang="en-US" sz="2000" b="0" i="0" dirty="0">
                  <a:solidFill>
                    <a:srgbClr val="000000"/>
                  </a:solidFill>
                  <a:effectLst/>
                  <a:cs typeface="Times New Roman" panose="02020603050405020304" pitchFamily="18" charset="0"/>
                </a:endParaRPr>
              </a:p>
              <a:p>
                <a:pPr algn="l" rtl="0" fontAlgn="base">
                  <a:buFont typeface="+mj-lt"/>
                  <a:buAutoNum type="arabicPeriod" startAt="2"/>
                </a:pPr>
                <a:r>
                  <a:rPr lang="ru-RU" sz="2000" b="1" i="0" u="none" strike="noStrike" dirty="0">
                    <a:solidFill>
                      <a:srgbClr val="000000"/>
                    </a:solidFill>
                    <a:effectLst/>
                    <a:cs typeface="Times New Roman" panose="02020603050405020304" pitchFamily="18" charset="0"/>
                  </a:rPr>
                  <a:t>Выбор оптимальной архитектуры</a:t>
                </a:r>
                <a:r>
                  <a:rPr lang="ru-RU" sz="2000" b="1" i="0" dirty="0">
                    <a:solidFill>
                      <a:srgbClr val="000000"/>
                    </a:solidFill>
                    <a:effectLst/>
                    <a:cs typeface="Times New Roman" panose="02020603050405020304" pitchFamily="18" charset="0"/>
                  </a:rPr>
                  <a:t>​</a:t>
                </a:r>
                <a:r>
                  <a:rPr lang="en-US" sz="2000" b="1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:		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ru-RU" sz="20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0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</m:e>
                              <m:lim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0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𝐴𝑈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𝑃𝑅</m:t>
                                </m:r>
                              </m:sub>
                            </m:s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𝑡𝑒𝑠𝑡</m:t>
                                </m:r>
                              </m:sub>
                            </m:sSub>
                            <m:r>
                              <a:rPr lang="en-US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  <m:r>
                              <a:rPr lang="en-US" sz="2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endParaRPr lang="en-US" sz="2000" b="0" i="0" dirty="0">
                  <a:solidFill>
                    <a:srgbClr val="000000"/>
                  </a:solidFill>
                  <a:effectLst/>
                  <a:cs typeface="Times New Roman" panose="02020603050405020304" pitchFamily="18" charset="0"/>
                </a:endParaRPr>
              </a:p>
              <a:p>
                <a:pPr marL="457200" lvl="1" indent="0" fontAlgn="base">
                  <a:buNone/>
                </a:pPr>
                <a:endParaRPr lang="ru-RU" sz="2000" b="0" i="0" dirty="0">
                  <a:solidFill>
                    <a:srgbClr val="000000"/>
                  </a:solidFill>
                  <a:effectLst/>
                  <a:cs typeface="Times New Roman" panose="02020603050405020304" pitchFamily="18" charset="0"/>
                </a:endParaRPr>
              </a:p>
              <a:p>
                <a:pPr marL="0" indent="0" algn="l" rtl="0" fontAlgn="base">
                  <a:buNone/>
                </a:pPr>
                <a:endParaRPr lang="ru-RU" sz="2000" b="0" i="0" dirty="0">
                  <a:solidFill>
                    <a:srgbClr val="000000"/>
                  </a:solidFill>
                  <a:effectLst/>
                  <a:cs typeface="Times New Roman" panose="02020603050405020304" pitchFamily="18" charset="0"/>
                </a:endParaRPr>
              </a:p>
              <a:p>
                <a:endParaRPr lang="ru-RU" sz="20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24AE187-AAB2-494C-8C5A-60ECEE61EA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6908"/>
                <a:ext cx="10515600" cy="5174583"/>
              </a:xfrm>
              <a:blipFill>
                <a:blip r:embed="rId2"/>
                <a:stretch>
                  <a:fillRect l="-724" t="-1471" r="-121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Объект 2">
            <a:extLst>
              <a:ext uri="{FF2B5EF4-FFF2-40B4-BE49-F238E27FC236}">
                <a16:creationId xmlns:a16="http://schemas.microsoft.com/office/drawing/2014/main" id="{6F9E7C6A-9BA1-3934-97C5-A81E9341219B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889029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9C7F7B-3057-4C74-B94B-211F254D9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175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Кодирование событий </a:t>
            </a: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audit-</a:t>
            </a:r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логов </a:t>
            </a:r>
            <a:r>
              <a:rPr lang="en-US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Kubernetes</a:t>
            </a:r>
            <a:r>
              <a:rPr lang="en-US" sz="3600" b="1" i="0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18866A4-57BB-4F0A-9161-D3D2D9180852}"/>
              </a:ext>
            </a:extLst>
          </p:cNvPr>
          <p:cNvSpPr/>
          <p:nvPr/>
        </p:nvSpPr>
        <p:spPr>
          <a:xfrm>
            <a:off x="747421" y="1439070"/>
            <a:ext cx="1749287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JSON </a:t>
            </a:r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событие аудита</a:t>
            </a:r>
            <a:r>
              <a:rPr lang="ru-RU" b="0" i="0" dirty="0">
                <a:solidFill>
                  <a:srgbClr val="000000"/>
                </a:solidFill>
                <a:effectLst/>
              </a:rPr>
              <a:t>​</a:t>
            </a:r>
            <a:endParaRPr lang="ru-RU" dirty="0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67D67EFD-3236-4743-BCF1-56F705C99998}"/>
              </a:ext>
            </a:extLst>
          </p:cNvPr>
          <p:cNvSpPr/>
          <p:nvPr/>
        </p:nvSpPr>
        <p:spPr>
          <a:xfrm>
            <a:off x="747421" y="2833371"/>
            <a:ext cx="1749287" cy="914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Очистка и фильтрация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Прямоугольник: скругленные углы 11">
                <a:extLst>
                  <a:ext uri="{FF2B5EF4-FFF2-40B4-BE49-F238E27FC236}">
                    <a16:creationId xmlns:a16="http://schemas.microsoft.com/office/drawing/2014/main" id="{3827AC99-B197-4111-861D-492069197D0E}"/>
                  </a:ext>
                </a:extLst>
              </p:cNvPr>
              <p:cNvSpPr/>
              <p:nvPr/>
            </p:nvSpPr>
            <p:spPr>
              <a:xfrm>
                <a:off x="747420" y="4227672"/>
                <a:ext cx="1749287" cy="91440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ru-RU" sz="1800" b="0" i="0" u="none" strike="noStrike" dirty="0">
                    <a:solidFill>
                      <a:srgbClr val="000000"/>
                    </a:solidFill>
                    <a:effectLst/>
                  </a:rPr>
                  <a:t>Кодирование признаков </a:t>
                </a:r>
                <a14:m>
                  <m:oMath xmlns:m="http://schemas.openxmlformats.org/officeDocument/2006/math">
                    <m:r>
                      <a:rPr lang="en-US" sz="18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12" name="Прямоугольник: скругленные углы 11">
                <a:extLst>
                  <a:ext uri="{FF2B5EF4-FFF2-40B4-BE49-F238E27FC236}">
                    <a16:creationId xmlns:a16="http://schemas.microsoft.com/office/drawing/2014/main" id="{3827AC99-B197-4111-861D-492069197D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20" y="4227672"/>
                <a:ext cx="1749287" cy="9144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: скругленные углы 12">
                <a:extLst>
                  <a:ext uri="{FF2B5EF4-FFF2-40B4-BE49-F238E27FC236}">
                    <a16:creationId xmlns:a16="http://schemas.microsoft.com/office/drawing/2014/main" id="{2411F421-E258-42C1-82BB-43F97D3D594D}"/>
                  </a:ext>
                </a:extLst>
              </p:cNvPr>
              <p:cNvSpPr/>
              <p:nvPr/>
            </p:nvSpPr>
            <p:spPr>
              <a:xfrm>
                <a:off x="747419" y="5621973"/>
                <a:ext cx="1749287" cy="914400"/>
              </a:xfrm>
              <a:prstGeom prst="round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ru-RU" sz="1800" b="0" i="0" u="none" strike="noStrike" dirty="0">
                    <a:solidFill>
                      <a:srgbClr val="000000"/>
                    </a:solidFill>
                    <a:effectLst/>
                  </a:rPr>
                  <a:t>Вектор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" name="Прямоугольник: скругленные углы 12">
                <a:extLst>
                  <a:ext uri="{FF2B5EF4-FFF2-40B4-BE49-F238E27FC236}">
                    <a16:creationId xmlns:a16="http://schemas.microsoft.com/office/drawing/2014/main" id="{2411F421-E258-42C1-82BB-43F97D3D59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19" y="5621973"/>
                <a:ext cx="1749287" cy="9144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Объект 2">
            <a:extLst>
              <a:ext uri="{FF2B5EF4-FFF2-40B4-BE49-F238E27FC236}">
                <a16:creationId xmlns:a16="http://schemas.microsoft.com/office/drawing/2014/main" id="{6092F25C-DDC7-4B68-8DB7-2EA9D6CF1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5844" y="1301911"/>
            <a:ext cx="4675356" cy="4641686"/>
          </a:xfrm>
        </p:spPr>
        <p:txBody>
          <a:bodyPr>
            <a:noAutofit/>
          </a:bodyPr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Time</a:t>
            </a:r>
            <a:r>
              <a:rPr lang="en-US" sz="1800" b="1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  <a:r>
              <a:rPr lang="ru-RU" sz="1800" b="1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endParaRPr lang="en-US" sz="1800" b="1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sin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/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cos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hour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sin</a:t>
            </a:r>
            <a:r>
              <a:rPr lang="ru-RU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/</a:t>
            </a:r>
            <a:r>
              <a:rPr lang="ru-RU" sz="18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cos</a:t>
            </a:r>
            <a:r>
              <a:rPr lang="ru-RU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day</a:t>
            </a:r>
            <a:r>
              <a:rPr lang="ru-RU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of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week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flag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working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hours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Verb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one-hot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encoding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(16 verb: get, list, update …)</a:t>
            </a:r>
            <a:endParaRPr lang="ru-RU" sz="18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User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hashing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trick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(H=64) 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flags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- тип субъекта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(3)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UserAgent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one-hot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encoding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(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6 user agents: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kubectl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,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helm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,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controller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,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browser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,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curl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,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other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)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10C2E158-1F24-4A4A-A6B9-3248601D5F63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1622065" y="2353470"/>
            <a:ext cx="0" cy="4799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DBBAC374-28D5-4BAC-8720-D877AAF353D2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1622064" y="3747771"/>
            <a:ext cx="1" cy="4799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B2629F1B-73A6-4E2F-AB2F-D487B5466381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flipH="1">
            <a:off x="1622063" y="5142072"/>
            <a:ext cx="1" cy="4799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Объект 2">
            <a:extLst>
              <a:ext uri="{FF2B5EF4-FFF2-40B4-BE49-F238E27FC236}">
                <a16:creationId xmlns:a16="http://schemas.microsoft.com/office/drawing/2014/main" id="{38B72F8F-B255-4D6C-BEC9-9AEB07BE617F}"/>
              </a:ext>
            </a:extLst>
          </p:cNvPr>
          <p:cNvSpPr txBox="1">
            <a:spLocks/>
          </p:cNvSpPr>
          <p:nvPr/>
        </p:nvSpPr>
        <p:spPr>
          <a:xfrm>
            <a:off x="7410615" y="1301911"/>
            <a:ext cx="4738317" cy="4320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Resource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hashing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trick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(H=</a:t>
            </a:r>
            <a:r>
              <a:rPr lang="ru-RU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64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)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flag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– конфиденциальность ресурса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Namespace</a:t>
            </a:r>
            <a:r>
              <a:rPr lang="en-US" sz="1800" b="1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one-hot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encoding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(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3 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типа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: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kube-system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/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prod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/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infra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)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IP </a:t>
            </a:r>
            <a:r>
              <a:rPr lang="ru-RU" sz="1800" b="1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source</a:t>
            </a:r>
            <a:r>
              <a:rPr lang="en-US" sz="1800" b="1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one-hot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encoding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(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3 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типа</a:t>
            </a:r>
            <a:r>
              <a:rPr lang="en-US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: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internal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/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cluster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/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external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)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Response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one-hot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encoding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(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5 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типов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: 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1xx, 2xx, 3xx, 4xx, 5xx)</a:t>
            </a:r>
            <a:endParaRPr lang="en-US" sz="1800" b="0" i="0" u="none" strike="noStrike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lvl="1" fontAlgn="base">
              <a:buFont typeface="Courier New" panose="02070309020205020404" pitchFamily="49" charset="0"/>
              <a:buChar char="o"/>
            </a:pP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  <a:r>
              <a:rPr lang="en-US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flag failure</a:t>
            </a:r>
            <a:endParaRPr lang="ru-RU" sz="18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17" name="Объект 2">
            <a:extLst>
              <a:ext uri="{FF2B5EF4-FFF2-40B4-BE49-F238E27FC236}">
                <a16:creationId xmlns:a16="http://schemas.microsoft.com/office/drawing/2014/main" id="{B86EF7AD-0314-49B4-A8E6-B7CEC8C3DFBB}"/>
              </a:ext>
            </a:extLst>
          </p:cNvPr>
          <p:cNvSpPr txBox="1">
            <a:spLocks/>
          </p:cNvSpPr>
          <p:nvPr/>
        </p:nvSpPr>
        <p:spPr>
          <a:xfrm>
            <a:off x="3230874" y="5949534"/>
            <a:ext cx="8820651" cy="914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ru-RU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Итоговая размерность</a:t>
            </a:r>
            <a:r>
              <a:rPr lang="en-US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:</a:t>
            </a:r>
            <a:r>
              <a:rPr lang="ru-RU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 171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27200-86C0-6955-7E51-8DF37751EE7E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265667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63F563-6EA0-4668-A6AE-1E3757D50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7501"/>
            <a:ext cx="10515600" cy="1118961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Формирование набора данных</a:t>
            </a:r>
            <a:r>
              <a:rPr lang="ru-RU" sz="3600" b="1" i="0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AC083E-4D70-41C7-BB7B-BB8E34FAE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6863" y="1470991"/>
            <a:ext cx="5573201" cy="4705972"/>
          </a:xfrm>
        </p:spPr>
        <p:txBody>
          <a:bodyPr/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Источник данных: </a:t>
            </a:r>
            <a:r>
              <a:rPr lang="ru-RU" sz="2000" b="1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audit-логи</a:t>
            </a:r>
            <a:r>
              <a:rPr lang="ru-RU" sz="20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2000" b="1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Kubernetes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Среда сбора: </a:t>
            </a:r>
            <a:r>
              <a:rPr lang="ru-RU" sz="20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экспериментальный кластер с включённым аудит</a:t>
            </a:r>
            <a:r>
              <a:rPr lang="en-US" sz="20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-</a:t>
            </a:r>
            <a:r>
              <a:rPr lang="ru-RU" sz="20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логированием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События для обучающей выборки генерировались </a:t>
            </a:r>
            <a:r>
              <a:rPr lang="ru-RU" sz="20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агентами с разными про</a:t>
            </a:r>
            <a:r>
              <a:rPr lang="ru-RU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филями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При создании тестовой выборки профилям </a:t>
            </a:r>
            <a:r>
              <a:rPr 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добавились </a:t>
            </a:r>
            <a:r>
              <a:rPr lang="ru-RU" sz="20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аномальные сценарии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Профили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: DevOps, SRE- </a:t>
            </a:r>
            <a:r>
              <a:rPr 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инженер, Разработчик, Администратор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1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Аномальные сценарии</a:t>
            </a:r>
            <a:r>
              <a:rPr lang="en-US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: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необычные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API-</a:t>
            </a:r>
            <a:r>
              <a:rPr 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запросы, доступ к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”</a:t>
            </a:r>
            <a:r>
              <a:rPr 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чувствительным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”</a:t>
            </a:r>
            <a:r>
              <a:rPr 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 данным, нестандартные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user-agent </a:t>
            </a:r>
            <a:r>
              <a:rPr 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и т.д.</a:t>
            </a:r>
            <a:endParaRPr lang="ru-RU" sz="20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CADF70E2-AFF7-4BD0-3805-4B1CCEA6621F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362A0B-ED93-039C-53FB-50CADC0D2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65" y="1033154"/>
            <a:ext cx="4947841" cy="571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76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3977FD-4CFD-45A5-B739-ABDDDB23E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205"/>
            <a:ext cx="10515600" cy="1050702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Анализ полученного набора данных</a:t>
            </a:r>
            <a:r>
              <a:rPr lang="ru-RU" sz="3600" b="1" i="0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BDCA6EDF-3078-4E08-BCC3-B2E0F62279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4880576"/>
              </p:ext>
            </p:extLst>
          </p:nvPr>
        </p:nvGraphicFramePr>
        <p:xfrm>
          <a:off x="364178" y="1348715"/>
          <a:ext cx="6084123" cy="3657572"/>
        </p:xfrm>
        <a:graphic>
          <a:graphicData uri="http://schemas.openxmlformats.org/drawingml/2006/table">
            <a:tbl>
              <a:tblPr/>
              <a:tblGrid>
                <a:gridCol w="1870395">
                  <a:extLst>
                    <a:ext uri="{9D8B030D-6E8A-4147-A177-3AD203B41FA5}">
                      <a16:colId xmlns:a16="http://schemas.microsoft.com/office/drawing/2014/main" val="1775898850"/>
                    </a:ext>
                  </a:extLst>
                </a:gridCol>
                <a:gridCol w="1340173">
                  <a:extLst>
                    <a:ext uri="{9D8B030D-6E8A-4147-A177-3AD203B41FA5}">
                      <a16:colId xmlns:a16="http://schemas.microsoft.com/office/drawing/2014/main" val="802914405"/>
                    </a:ext>
                  </a:extLst>
                </a:gridCol>
                <a:gridCol w="2873555">
                  <a:extLst>
                    <a:ext uri="{9D8B030D-6E8A-4147-A177-3AD203B41FA5}">
                      <a16:colId xmlns:a16="http://schemas.microsoft.com/office/drawing/2014/main" val="2201564575"/>
                    </a:ext>
                  </a:extLst>
                </a:gridCol>
              </a:tblGrid>
              <a:tr h="765958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Выборка​</a:t>
                      </a:r>
                      <a:endParaRPr lang="ru-RU" b="1" i="0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Кол-во событий​</a:t>
                      </a:r>
                      <a:endParaRPr lang="ru-RU" b="1" i="0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Особенности​</a:t>
                      </a:r>
                      <a:endParaRPr lang="ru-RU" b="1" i="0" dirty="0">
                        <a:solidFill>
                          <a:srgbClr val="FFFFFF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823496"/>
                  </a:ext>
                </a:extLst>
              </a:tr>
              <a:tr h="988607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Обучающая (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Train)​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140 305</a:t>
                      </a:r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Для обучения НС</a:t>
                      </a:r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just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Только нормальные событий</a:t>
                      </a:r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249719"/>
                  </a:ext>
                </a:extLst>
              </a:tr>
              <a:tr h="875819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Валидационная (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Val)​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46 768</a:t>
                      </a:r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Контроль обучения НС​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just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Только нормальные событий</a:t>
                      </a:r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796460"/>
                  </a:ext>
                </a:extLst>
              </a:tr>
              <a:tr h="988607">
                <a:tc>
                  <a:txBody>
                    <a:bodyPr/>
                    <a:lstStyle/>
                    <a:p>
                      <a:pPr algn="l" fontAlgn="base"/>
                      <a:r>
                        <a:rPr lang="ru-RU" sz="18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Тестовая​</a:t>
                      </a:r>
                      <a:endParaRPr lang="ru-RU" b="0" i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45 237</a:t>
                      </a:r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/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Сравнение НС​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algn="just" fontAlgn="base"/>
                      <a:r>
                        <a:rPr lang="ru-RU" sz="18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Нормальные + аномальные события​</a:t>
                      </a:r>
                      <a:endParaRPr lang="ru-RU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47705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5330838-60E0-4EE0-8952-BDEEAF625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720340" y="-48180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 descr="Изображение выглядит как текст, снимок экрана, прямоугольный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D7F38D0-B4D6-4CD1-A1BA-23CDEC974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649" y="1371600"/>
            <a:ext cx="5103173" cy="4536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537664D1-4FFB-4249-AE44-C1A3711D54DD}"/>
              </a:ext>
            </a:extLst>
          </p:cNvPr>
          <p:cNvSpPr txBox="1">
            <a:spLocks/>
          </p:cNvSpPr>
          <p:nvPr/>
        </p:nvSpPr>
        <p:spPr>
          <a:xfrm>
            <a:off x="461851" y="5373848"/>
            <a:ext cx="6378336" cy="14841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Большинство признаков слабо скоррелированы 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Данные обладают высокой информативностью 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05B9A6-1DA9-F62C-5287-53E8C4DC9C8A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515118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51280F-A0C6-4D7D-8D9C-3D1986878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303"/>
            <a:ext cx="10515600" cy="1081033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Обучение моделей</a:t>
            </a:r>
            <a:r>
              <a:rPr lang="ru-RU" sz="3600" b="1" i="0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FDAA0E-2635-4E52-9B5E-8F6188878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4771" y="4053784"/>
            <a:ext cx="5382718" cy="2356688"/>
          </a:xfrm>
        </p:spPr>
        <p:txBody>
          <a:bodyPr>
            <a:normAutofit/>
          </a:bodyPr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выполнялось на нормальных событиях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-логов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Использовалась функция потерь </a:t>
            </a: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MSE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Оптимизация: </a:t>
            </a: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Adam + </a:t>
            </a:r>
            <a:r>
              <a:rPr lang="ru-RU" sz="18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</a:t>
            </a:r>
            <a:r>
              <a:rPr lang="ru-RU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Stopping</a:t>
            </a:r>
            <a:endParaRPr lang="ru-RU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Все модели демонстрируют устойчивую сходимость и отсутствие переобучения</a:t>
            </a:r>
            <a:r>
              <a:rPr lang="ru-RU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Изображение выглядит как текст, линия, снимок экрана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137E5A2-6DB6-4766-816E-309404434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77" y="4031672"/>
            <a:ext cx="5652654" cy="2826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Изображение выглядит как текст, линия, диаграмм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A94B6BD-3435-4E59-8EC7-F6762D1F3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7125"/>
            <a:ext cx="5933316" cy="2966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Изображение выглядит как текст, линия, снимок экрана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09BAEEF-F597-4318-9698-7DE2923DD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3316" y="970371"/>
            <a:ext cx="5955013" cy="2977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5A26E57D-1413-1CC2-2EFC-F4F92F5B403E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32512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41ACC-8093-404F-AA6F-217022B75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5428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Сравнение результатов моделей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47479BD4-90F2-45FD-8D12-DFB36C4FB9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6541468"/>
              </p:ext>
            </p:extLst>
          </p:nvPr>
        </p:nvGraphicFramePr>
        <p:xfrm>
          <a:off x="495865" y="1687905"/>
          <a:ext cx="7946384" cy="2524658"/>
        </p:xfrm>
        <a:graphic>
          <a:graphicData uri="http://schemas.openxmlformats.org/drawingml/2006/table">
            <a:tbl>
              <a:tblPr/>
              <a:tblGrid>
                <a:gridCol w="1986596">
                  <a:extLst>
                    <a:ext uri="{9D8B030D-6E8A-4147-A177-3AD203B41FA5}">
                      <a16:colId xmlns:a16="http://schemas.microsoft.com/office/drawing/2014/main" val="3485471357"/>
                    </a:ext>
                  </a:extLst>
                </a:gridCol>
                <a:gridCol w="1986596">
                  <a:extLst>
                    <a:ext uri="{9D8B030D-6E8A-4147-A177-3AD203B41FA5}">
                      <a16:colId xmlns:a16="http://schemas.microsoft.com/office/drawing/2014/main" val="3730812578"/>
                    </a:ext>
                  </a:extLst>
                </a:gridCol>
                <a:gridCol w="1986596">
                  <a:extLst>
                    <a:ext uri="{9D8B030D-6E8A-4147-A177-3AD203B41FA5}">
                      <a16:colId xmlns:a16="http://schemas.microsoft.com/office/drawing/2014/main" val="71306829"/>
                    </a:ext>
                  </a:extLst>
                </a:gridCol>
                <a:gridCol w="1986596">
                  <a:extLst>
                    <a:ext uri="{9D8B030D-6E8A-4147-A177-3AD203B41FA5}">
                      <a16:colId xmlns:a16="http://schemas.microsoft.com/office/drawing/2014/main" val="1072176150"/>
                    </a:ext>
                  </a:extLst>
                </a:gridCol>
              </a:tblGrid>
              <a:tr h="531507">
                <a:tc>
                  <a:txBody>
                    <a:bodyPr/>
                    <a:lstStyle/>
                    <a:p>
                      <a:pPr algn="l" fontAlgn="base"/>
                      <a:r>
                        <a:rPr lang="ru-RU" sz="20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Модель</a:t>
                      </a:r>
                      <a:r>
                        <a:rPr lang="ru-RU" sz="20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PR-AUC</a:t>
                      </a:r>
                      <a:r>
                        <a:rPr lang="en-US" sz="2000" b="1" i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0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Recall</a:t>
                      </a:r>
                      <a:r>
                        <a:rPr lang="en-US" sz="20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0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F1-score</a:t>
                      </a:r>
                      <a:r>
                        <a:rPr lang="en-US" sz="2000" b="1" i="0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397398"/>
                  </a:ext>
                </a:extLst>
              </a:tr>
              <a:tr h="930137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Autoencoder</a:t>
                      </a: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0.9963</a:t>
                      </a:r>
                      <a:endParaRPr lang="ru-RU" sz="2000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1.00</a:t>
                      </a:r>
                      <a:r>
                        <a:rPr lang="ru-RU" sz="20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0.955</a:t>
                      </a:r>
                      <a:endParaRPr lang="ru-RU" sz="2000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517844"/>
                  </a:ext>
                </a:extLst>
              </a:tr>
              <a:tr h="531507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RNN-AE</a:t>
                      </a: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0.9973</a:t>
                      </a:r>
                      <a:r>
                        <a:rPr lang="ru-RU" sz="20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1.00</a:t>
                      </a:r>
                      <a:r>
                        <a:rPr lang="ru-RU" sz="20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0.967</a:t>
                      </a:r>
                      <a:r>
                        <a:rPr lang="ru-RU" sz="20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086466"/>
                  </a:ext>
                </a:extLst>
              </a:tr>
              <a:tr h="531507">
                <a:tc>
                  <a:txBody>
                    <a:bodyPr/>
                    <a:lstStyle/>
                    <a:p>
                      <a:pPr algn="l" fontAlgn="base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LSTM-AE</a:t>
                      </a:r>
                      <a:r>
                        <a:rPr lang="en-US" sz="2000" b="1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ru-R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0.9996</a:t>
                      </a:r>
                      <a:endParaRPr lang="ru-RU" sz="2000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1.00</a:t>
                      </a:r>
                      <a:r>
                        <a:rPr lang="ru-RU" sz="2000" b="0" i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​</a:t>
                      </a: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0.964</a:t>
                      </a:r>
                      <a:endParaRPr lang="ru-RU" sz="2000" b="0" i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>
                    <a:lnL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12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19152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861C92E-7980-401D-B9B5-2D273C8EC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93040" y="-1168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3F8439-FFCA-6716-EDAD-3A758D9D4E8C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EAE1161C-9D77-000B-0ABE-CB4D74033828}"/>
              </a:ext>
            </a:extLst>
          </p:cNvPr>
          <p:cNvSpPr txBox="1">
            <a:spLocks/>
          </p:cNvSpPr>
          <p:nvPr/>
        </p:nvSpPr>
        <p:spPr>
          <a:xfrm>
            <a:off x="8537944" y="1771890"/>
            <a:ext cx="3623234" cy="19069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endParaRPr lang="ru-RU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LSTM-AE 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выбрана как итоговая модель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fontAlgn="base"/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Лучшая </a:t>
            </a:r>
            <a:r>
              <a:rPr lang="en-US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PR-AUC</a:t>
            </a:r>
          </a:p>
          <a:p>
            <a:pPr fontAlgn="base"/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Учитывает временные зависимости</a:t>
            </a:r>
          </a:p>
          <a:p>
            <a:pPr marL="0" indent="0" fontAlgn="base">
              <a:buNone/>
            </a:pPr>
            <a:endParaRPr lang="ru-RU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D6E30ED2-AD99-8D91-CEAA-AC6A2D1B59BB}"/>
              </a:ext>
            </a:extLst>
          </p:cNvPr>
          <p:cNvSpPr txBox="1">
            <a:spLocks/>
          </p:cNvSpPr>
          <p:nvPr/>
        </p:nvSpPr>
        <p:spPr>
          <a:xfrm>
            <a:off x="495865" y="4732776"/>
            <a:ext cx="6319605" cy="1906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Все модели показали высокое качество</a:t>
            </a:r>
          </a:p>
          <a:p>
            <a:pPr fontAlgn="base"/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Все модели обнаружили все аномалии</a:t>
            </a:r>
          </a:p>
          <a:p>
            <a:pPr marL="0" indent="0" fontAlgn="base">
              <a:buNone/>
            </a:pPr>
            <a:endParaRPr lang="ru-RU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527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941CC1-6A1C-43DD-94CF-AB9922F43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037"/>
            <a:ext cx="10515600" cy="1325563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Архитектура </a:t>
            </a:r>
            <a:r>
              <a:rPr lang="ru-RU" sz="3600" b="1" i="0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E1A35263-C878-4BE8-9C2B-A7C6BBA17099}"/>
              </a:ext>
            </a:extLst>
          </p:cNvPr>
          <p:cNvSpPr txBox="1">
            <a:spLocks/>
          </p:cNvSpPr>
          <p:nvPr/>
        </p:nvSpPr>
        <p:spPr>
          <a:xfrm>
            <a:off x="4595751" y="4700843"/>
            <a:ext cx="7499729" cy="19841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Master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— управление системой и пользовательский интерфейс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1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Worker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— обучение моделей и обнаружение аномалий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1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Redis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— очередь задач между компонентами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1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OpenSearch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— источник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audit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-логов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1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PostgreSQL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— хранение метаданных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endParaRPr lang="ru-RU" sz="20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3D6BC0-AECD-7102-1195-FD937AB28367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D0853A-C78F-0C7E-1898-9C6A34425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038" y="1246804"/>
            <a:ext cx="8977745" cy="345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133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F5F2F8-5207-4690-956F-8765ACE2C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193"/>
            <a:ext cx="10515600" cy="885974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Обучение НС</a:t>
            </a:r>
            <a:r>
              <a:rPr lang="en-US" sz="3600" b="1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/</a:t>
            </a:r>
            <a:r>
              <a:rPr lang="ru-RU" sz="3600" b="1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Обнаружения аномалий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66FBAF4A-ABAE-40B6-AB3E-FE7794F26498}"/>
              </a:ext>
            </a:extLst>
          </p:cNvPr>
          <p:cNvSpPr txBox="1">
            <a:spLocks/>
          </p:cNvSpPr>
          <p:nvPr/>
        </p:nvSpPr>
        <p:spPr>
          <a:xfrm>
            <a:off x="0" y="998946"/>
            <a:ext cx="2698446" cy="4781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 fontAlgn="base">
              <a:buNone/>
            </a:pPr>
            <a:r>
              <a:rPr lang="ru-RU" sz="2400" b="1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Обучение модели</a:t>
            </a:r>
            <a:endParaRPr lang="ru-RU" sz="1600" b="1" i="0" dirty="0">
              <a:solidFill>
                <a:srgbClr val="000000"/>
              </a:solidFill>
              <a:effectLst/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A8C3CC25-6E89-4F07-94A6-C4DA60FE54BF}"/>
              </a:ext>
            </a:extLst>
          </p:cNvPr>
          <p:cNvSpPr txBox="1">
            <a:spLocks/>
          </p:cNvSpPr>
          <p:nvPr/>
        </p:nvSpPr>
        <p:spPr>
          <a:xfrm>
            <a:off x="6402086" y="1039167"/>
            <a:ext cx="4188988" cy="6800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 fontAlgn="base">
              <a:buNone/>
            </a:pPr>
            <a:r>
              <a:rPr lang="ru-RU" sz="2400" b="1" dirty="0">
                <a:solidFill>
                  <a:srgbClr val="000000"/>
                </a:solidFill>
                <a:cs typeface="Times New Roman" panose="02020603050405020304" pitchFamily="18" charset="0"/>
              </a:rPr>
              <a:t>Обнаружение аномалий</a:t>
            </a:r>
            <a:endParaRPr lang="ru-RU" sz="1600" b="1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0F0C34-A164-F1EE-EE1E-E3F82B748274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cxnSp>
        <p:nvCxnSpPr>
          <p:cNvPr id="4" name="Прямая соединительная линия 4">
            <a:extLst>
              <a:ext uri="{FF2B5EF4-FFF2-40B4-BE49-F238E27FC236}">
                <a16:creationId xmlns:a16="http://schemas.microsoft.com/office/drawing/2014/main" id="{2E4411E7-FE60-F98C-D01D-3927BC34350A}"/>
              </a:ext>
            </a:extLst>
          </p:cNvPr>
          <p:cNvCxnSpPr>
            <a:cxnSpLocks/>
          </p:cNvCxnSpPr>
          <p:nvPr/>
        </p:nvCxnSpPr>
        <p:spPr>
          <a:xfrm>
            <a:off x="5702711" y="1142693"/>
            <a:ext cx="0" cy="5715307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Прямоугольник: скругленные углы 9">
            <a:extLst>
              <a:ext uri="{FF2B5EF4-FFF2-40B4-BE49-F238E27FC236}">
                <a16:creationId xmlns:a16="http://schemas.microsoft.com/office/drawing/2014/main" id="{0D878217-E186-5091-D6FE-7DA699F8C15D}"/>
              </a:ext>
            </a:extLst>
          </p:cNvPr>
          <p:cNvSpPr/>
          <p:nvPr/>
        </p:nvSpPr>
        <p:spPr>
          <a:xfrm>
            <a:off x="726282" y="1556028"/>
            <a:ext cx="2484743" cy="6661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Получение событий из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OpenSearch</a:t>
            </a:r>
            <a:endParaRPr lang="ru-RU" dirty="0"/>
          </a:p>
        </p:txBody>
      </p:sp>
      <p:sp>
        <p:nvSpPr>
          <p:cNvPr id="7" name="Прямоугольник: скругленные углы 10">
            <a:extLst>
              <a:ext uri="{FF2B5EF4-FFF2-40B4-BE49-F238E27FC236}">
                <a16:creationId xmlns:a16="http://schemas.microsoft.com/office/drawing/2014/main" id="{1C5DDD48-AED9-ECA7-E262-BC8341B4592C}"/>
              </a:ext>
            </a:extLst>
          </p:cNvPr>
          <p:cNvSpPr/>
          <p:nvPr/>
        </p:nvSpPr>
        <p:spPr>
          <a:xfrm>
            <a:off x="2698446" y="2378465"/>
            <a:ext cx="2484747" cy="6661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Группировка событий по полю </a:t>
            </a:r>
            <a:r>
              <a:rPr lang="en-US" dirty="0"/>
              <a:t>user</a:t>
            </a:r>
            <a:endParaRPr lang="ru-RU" dirty="0"/>
          </a:p>
        </p:txBody>
      </p:sp>
      <p:sp>
        <p:nvSpPr>
          <p:cNvPr id="9" name="Прямоугольник: скругленные углы 11">
            <a:extLst>
              <a:ext uri="{FF2B5EF4-FFF2-40B4-BE49-F238E27FC236}">
                <a16:creationId xmlns:a16="http://schemas.microsoft.com/office/drawing/2014/main" id="{CF6A21F2-8F75-A2A9-A632-4523D8AEBA7B}"/>
              </a:ext>
            </a:extLst>
          </p:cNvPr>
          <p:cNvSpPr/>
          <p:nvPr/>
        </p:nvSpPr>
        <p:spPr>
          <a:xfrm>
            <a:off x="551090" y="3280211"/>
            <a:ext cx="2484738" cy="6661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Формирование последовательностей</a:t>
            </a:r>
            <a:endParaRPr lang="ru-RU" dirty="0"/>
          </a:p>
        </p:txBody>
      </p:sp>
      <p:sp>
        <p:nvSpPr>
          <p:cNvPr id="37" name="Прямоугольник: скругленные углы 11">
            <a:extLst>
              <a:ext uri="{FF2B5EF4-FFF2-40B4-BE49-F238E27FC236}">
                <a16:creationId xmlns:a16="http://schemas.microsoft.com/office/drawing/2014/main" id="{93DFC764-B44D-1C6F-6418-80DD07528084}"/>
              </a:ext>
            </a:extLst>
          </p:cNvPr>
          <p:cNvSpPr/>
          <p:nvPr/>
        </p:nvSpPr>
        <p:spPr>
          <a:xfrm>
            <a:off x="2698455" y="4148775"/>
            <a:ext cx="2484738" cy="6661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Кодирование признаков</a:t>
            </a:r>
            <a:endParaRPr lang="ru-RU" dirty="0"/>
          </a:p>
        </p:txBody>
      </p:sp>
      <p:sp>
        <p:nvSpPr>
          <p:cNvPr id="38" name="Прямоугольник: скругленные углы 11">
            <a:extLst>
              <a:ext uri="{FF2B5EF4-FFF2-40B4-BE49-F238E27FC236}">
                <a16:creationId xmlns:a16="http://schemas.microsoft.com/office/drawing/2014/main" id="{9704E45E-D0FB-C907-B81B-7A8916EF409A}"/>
              </a:ext>
            </a:extLst>
          </p:cNvPr>
          <p:cNvSpPr/>
          <p:nvPr/>
        </p:nvSpPr>
        <p:spPr>
          <a:xfrm>
            <a:off x="551090" y="5109609"/>
            <a:ext cx="2484738" cy="6661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Обучение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LSTM-AE (MSE + Adam)</a:t>
            </a:r>
            <a:endParaRPr lang="ru-RU" dirty="0"/>
          </a:p>
        </p:txBody>
      </p:sp>
      <p:sp>
        <p:nvSpPr>
          <p:cNvPr id="39" name="Прямоугольник: скругленные углы 11">
            <a:extLst>
              <a:ext uri="{FF2B5EF4-FFF2-40B4-BE49-F238E27FC236}">
                <a16:creationId xmlns:a16="http://schemas.microsoft.com/office/drawing/2014/main" id="{D493718B-7430-CB41-C90B-0292DCC3C393}"/>
              </a:ext>
            </a:extLst>
          </p:cNvPr>
          <p:cNvSpPr/>
          <p:nvPr/>
        </p:nvSpPr>
        <p:spPr>
          <a:xfrm>
            <a:off x="2698455" y="6056531"/>
            <a:ext cx="2484738" cy="6661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Сохранение модели</a:t>
            </a:r>
            <a:endParaRPr lang="ru-RU" dirty="0"/>
          </a:p>
        </p:txBody>
      </p:sp>
      <p:cxnSp>
        <p:nvCxnSpPr>
          <p:cNvPr id="48" name="Прямая со стрелкой 18">
            <a:extLst>
              <a:ext uri="{FF2B5EF4-FFF2-40B4-BE49-F238E27FC236}">
                <a16:creationId xmlns:a16="http://schemas.microsoft.com/office/drawing/2014/main" id="{91EDCBBE-7AB0-B519-875D-4C95B8B8A04C}"/>
              </a:ext>
            </a:extLst>
          </p:cNvPr>
          <p:cNvCxnSpPr>
            <a:cxnSpLocks/>
            <a:stCxn id="5" idx="3"/>
            <a:endCxn id="7" idx="0"/>
          </p:cNvCxnSpPr>
          <p:nvPr/>
        </p:nvCxnSpPr>
        <p:spPr>
          <a:xfrm>
            <a:off x="3211025" y="1889117"/>
            <a:ext cx="729795" cy="4893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9" name="Прямоугольник: скругленные углы 9">
            <a:extLst>
              <a:ext uri="{FF2B5EF4-FFF2-40B4-BE49-F238E27FC236}">
                <a16:creationId xmlns:a16="http://schemas.microsoft.com/office/drawing/2014/main" id="{EF659CB0-EB7D-011A-8EE4-235DC4B05794}"/>
              </a:ext>
            </a:extLst>
          </p:cNvPr>
          <p:cNvSpPr/>
          <p:nvPr/>
        </p:nvSpPr>
        <p:spPr>
          <a:xfrm>
            <a:off x="6489291" y="1592052"/>
            <a:ext cx="2666893" cy="6661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Получение новых событий из 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OpenSearch</a:t>
            </a:r>
            <a:endParaRPr lang="ru-RU" dirty="0"/>
          </a:p>
        </p:txBody>
      </p:sp>
      <p:sp>
        <p:nvSpPr>
          <p:cNvPr id="50" name="Прямоугольник: скругленные углы 10">
            <a:extLst>
              <a:ext uri="{FF2B5EF4-FFF2-40B4-BE49-F238E27FC236}">
                <a16:creationId xmlns:a16="http://schemas.microsoft.com/office/drawing/2014/main" id="{1E54BCE2-6FF5-905E-C621-CF22C1A5B357}"/>
              </a:ext>
            </a:extLst>
          </p:cNvPr>
          <p:cNvSpPr/>
          <p:nvPr/>
        </p:nvSpPr>
        <p:spPr>
          <a:xfrm>
            <a:off x="9257630" y="2353059"/>
            <a:ext cx="2666888" cy="6661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Группировка событий по полю </a:t>
            </a:r>
            <a:r>
              <a:rPr lang="en-US" dirty="0"/>
              <a:t>user</a:t>
            </a:r>
            <a:endParaRPr lang="ru-RU" dirty="0"/>
          </a:p>
        </p:txBody>
      </p:sp>
      <p:sp>
        <p:nvSpPr>
          <p:cNvPr id="51" name="Прямоугольник: скругленные углы 11">
            <a:extLst>
              <a:ext uri="{FF2B5EF4-FFF2-40B4-BE49-F238E27FC236}">
                <a16:creationId xmlns:a16="http://schemas.microsoft.com/office/drawing/2014/main" id="{E72B5A02-95A8-AAD7-25D5-E9957D831473}"/>
              </a:ext>
            </a:extLst>
          </p:cNvPr>
          <p:cNvSpPr/>
          <p:nvPr/>
        </p:nvSpPr>
        <p:spPr>
          <a:xfrm>
            <a:off x="6489290" y="3083913"/>
            <a:ext cx="2666877" cy="6661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Формирование последовательностей</a:t>
            </a:r>
            <a:endParaRPr lang="ru-RU" dirty="0"/>
          </a:p>
        </p:txBody>
      </p:sp>
      <p:sp>
        <p:nvSpPr>
          <p:cNvPr id="54" name="Прямоугольник: скругленные углы 11">
            <a:extLst>
              <a:ext uri="{FF2B5EF4-FFF2-40B4-BE49-F238E27FC236}">
                <a16:creationId xmlns:a16="http://schemas.microsoft.com/office/drawing/2014/main" id="{543EBC7B-29D8-B959-21C0-E98F1736D561}"/>
              </a:ext>
            </a:extLst>
          </p:cNvPr>
          <p:cNvSpPr/>
          <p:nvPr/>
        </p:nvSpPr>
        <p:spPr>
          <a:xfrm>
            <a:off x="9257661" y="3815686"/>
            <a:ext cx="2666857" cy="6661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Кодирование признаков</a:t>
            </a:r>
            <a:endParaRPr lang="ru-RU" dirty="0"/>
          </a:p>
        </p:txBody>
      </p:sp>
      <p:sp>
        <p:nvSpPr>
          <p:cNvPr id="55" name="Прямоугольник: скругленные углы 11">
            <a:extLst>
              <a:ext uri="{FF2B5EF4-FFF2-40B4-BE49-F238E27FC236}">
                <a16:creationId xmlns:a16="http://schemas.microsoft.com/office/drawing/2014/main" id="{2FF45DC4-4DBA-8613-65B0-2B7B8201682B}"/>
              </a:ext>
            </a:extLst>
          </p:cNvPr>
          <p:cNvSpPr/>
          <p:nvPr/>
        </p:nvSpPr>
        <p:spPr>
          <a:xfrm>
            <a:off x="6516656" y="4614606"/>
            <a:ext cx="2666839" cy="6661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Reconstruction error</a:t>
            </a:r>
            <a:endParaRPr lang="ru-RU" dirty="0"/>
          </a:p>
        </p:txBody>
      </p:sp>
      <p:sp>
        <p:nvSpPr>
          <p:cNvPr id="56" name="Прямоугольник: скругленные углы 11">
            <a:extLst>
              <a:ext uri="{FF2B5EF4-FFF2-40B4-BE49-F238E27FC236}">
                <a16:creationId xmlns:a16="http://schemas.microsoft.com/office/drawing/2014/main" id="{5751CF4F-FAF9-0135-970D-D3C9AA4610C0}"/>
              </a:ext>
            </a:extLst>
          </p:cNvPr>
          <p:cNvSpPr/>
          <p:nvPr/>
        </p:nvSpPr>
        <p:spPr>
          <a:xfrm>
            <a:off x="9257680" y="5408587"/>
            <a:ext cx="2666838" cy="6661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rgbClr val="000000"/>
                </a:solidFill>
                <a:effectLst/>
              </a:rPr>
              <a:t>Error &gt; Threshold</a:t>
            </a:r>
            <a:endParaRPr lang="ru-RU" dirty="0"/>
          </a:p>
        </p:txBody>
      </p:sp>
      <p:sp>
        <p:nvSpPr>
          <p:cNvPr id="79" name="Прямоугольник: скругленные углы 11">
            <a:extLst>
              <a:ext uri="{FF2B5EF4-FFF2-40B4-BE49-F238E27FC236}">
                <a16:creationId xmlns:a16="http://schemas.microsoft.com/office/drawing/2014/main" id="{3BAC6522-3D19-9F1B-1F73-DC13A390D5F0}"/>
              </a:ext>
            </a:extLst>
          </p:cNvPr>
          <p:cNvSpPr/>
          <p:nvPr/>
        </p:nvSpPr>
        <p:spPr>
          <a:xfrm>
            <a:off x="6516657" y="6164049"/>
            <a:ext cx="2666838" cy="66617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0000"/>
                </a:solidFill>
              </a:rPr>
              <a:t>Генерация </a:t>
            </a:r>
            <a:r>
              <a:rPr lang="en-US" dirty="0">
                <a:solidFill>
                  <a:srgbClr val="000000"/>
                </a:solidFill>
              </a:rPr>
              <a:t>alert</a:t>
            </a:r>
            <a:endParaRPr lang="ru-RU" dirty="0"/>
          </a:p>
        </p:txBody>
      </p:sp>
      <p:cxnSp>
        <p:nvCxnSpPr>
          <p:cNvPr id="82" name="Прямая со стрелкой 18">
            <a:extLst>
              <a:ext uri="{FF2B5EF4-FFF2-40B4-BE49-F238E27FC236}">
                <a16:creationId xmlns:a16="http://schemas.microsoft.com/office/drawing/2014/main" id="{B2258FE4-BE59-71DA-334A-6B7865EBBCB6}"/>
              </a:ext>
            </a:extLst>
          </p:cNvPr>
          <p:cNvCxnSpPr>
            <a:cxnSpLocks/>
            <a:stCxn id="7" idx="1"/>
            <a:endCxn id="9" idx="0"/>
          </p:cNvCxnSpPr>
          <p:nvPr/>
        </p:nvCxnSpPr>
        <p:spPr>
          <a:xfrm flipH="1">
            <a:off x="1793459" y="2711554"/>
            <a:ext cx="904987" cy="5686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18">
            <a:extLst>
              <a:ext uri="{FF2B5EF4-FFF2-40B4-BE49-F238E27FC236}">
                <a16:creationId xmlns:a16="http://schemas.microsoft.com/office/drawing/2014/main" id="{BFEA7644-0A9D-BDEA-1646-1F319F3AE99B}"/>
              </a:ext>
            </a:extLst>
          </p:cNvPr>
          <p:cNvCxnSpPr>
            <a:cxnSpLocks/>
            <a:stCxn id="9" idx="3"/>
            <a:endCxn id="37" idx="0"/>
          </p:cNvCxnSpPr>
          <p:nvPr/>
        </p:nvCxnSpPr>
        <p:spPr>
          <a:xfrm>
            <a:off x="3035828" y="3613300"/>
            <a:ext cx="904996" cy="53547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9" name="Прямая со стрелкой 18">
            <a:extLst>
              <a:ext uri="{FF2B5EF4-FFF2-40B4-BE49-F238E27FC236}">
                <a16:creationId xmlns:a16="http://schemas.microsoft.com/office/drawing/2014/main" id="{B49F30D7-D854-BD70-5E1F-F195CC3E970A}"/>
              </a:ext>
            </a:extLst>
          </p:cNvPr>
          <p:cNvCxnSpPr>
            <a:cxnSpLocks/>
            <a:stCxn id="37" idx="1"/>
            <a:endCxn id="38" idx="0"/>
          </p:cNvCxnSpPr>
          <p:nvPr/>
        </p:nvCxnSpPr>
        <p:spPr>
          <a:xfrm flipH="1">
            <a:off x="1793459" y="4481864"/>
            <a:ext cx="904996" cy="6277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2" name="Прямая со стрелкой 18">
            <a:extLst>
              <a:ext uri="{FF2B5EF4-FFF2-40B4-BE49-F238E27FC236}">
                <a16:creationId xmlns:a16="http://schemas.microsoft.com/office/drawing/2014/main" id="{B7CC4D74-A9AA-AC7F-6D23-3230C1C2612E}"/>
              </a:ext>
            </a:extLst>
          </p:cNvPr>
          <p:cNvCxnSpPr>
            <a:cxnSpLocks/>
            <a:stCxn id="38" idx="3"/>
            <a:endCxn id="39" idx="0"/>
          </p:cNvCxnSpPr>
          <p:nvPr/>
        </p:nvCxnSpPr>
        <p:spPr>
          <a:xfrm>
            <a:off x="3035828" y="5442698"/>
            <a:ext cx="904996" cy="6138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5" name="Прямая со стрелкой 18">
            <a:extLst>
              <a:ext uri="{FF2B5EF4-FFF2-40B4-BE49-F238E27FC236}">
                <a16:creationId xmlns:a16="http://schemas.microsoft.com/office/drawing/2014/main" id="{B58A4503-7DAC-EECF-C370-F0FB5A932502}"/>
              </a:ext>
            </a:extLst>
          </p:cNvPr>
          <p:cNvCxnSpPr>
            <a:cxnSpLocks/>
            <a:stCxn id="49" idx="3"/>
            <a:endCxn id="50" idx="0"/>
          </p:cNvCxnSpPr>
          <p:nvPr/>
        </p:nvCxnSpPr>
        <p:spPr>
          <a:xfrm>
            <a:off x="9156184" y="1925141"/>
            <a:ext cx="1434890" cy="4279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9" name="Прямая со стрелкой 18">
            <a:extLst>
              <a:ext uri="{FF2B5EF4-FFF2-40B4-BE49-F238E27FC236}">
                <a16:creationId xmlns:a16="http://schemas.microsoft.com/office/drawing/2014/main" id="{FEEDB646-828F-E83D-F226-70E39B6103AD}"/>
              </a:ext>
            </a:extLst>
          </p:cNvPr>
          <p:cNvCxnSpPr>
            <a:cxnSpLocks/>
            <a:stCxn id="50" idx="1"/>
            <a:endCxn id="51" idx="0"/>
          </p:cNvCxnSpPr>
          <p:nvPr/>
        </p:nvCxnSpPr>
        <p:spPr>
          <a:xfrm flipH="1">
            <a:off x="7822729" y="2686148"/>
            <a:ext cx="1434901" cy="39776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 стрелкой 18">
            <a:extLst>
              <a:ext uri="{FF2B5EF4-FFF2-40B4-BE49-F238E27FC236}">
                <a16:creationId xmlns:a16="http://schemas.microsoft.com/office/drawing/2014/main" id="{136BA943-6418-9221-3898-202AFEFBC48B}"/>
              </a:ext>
            </a:extLst>
          </p:cNvPr>
          <p:cNvCxnSpPr>
            <a:cxnSpLocks/>
            <a:stCxn id="51" idx="3"/>
            <a:endCxn id="54" idx="0"/>
          </p:cNvCxnSpPr>
          <p:nvPr/>
        </p:nvCxnSpPr>
        <p:spPr>
          <a:xfrm>
            <a:off x="9156167" y="3417002"/>
            <a:ext cx="1434923" cy="3986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5" name="Прямая со стрелкой 18">
            <a:extLst>
              <a:ext uri="{FF2B5EF4-FFF2-40B4-BE49-F238E27FC236}">
                <a16:creationId xmlns:a16="http://schemas.microsoft.com/office/drawing/2014/main" id="{6D5E38BA-D298-CB1D-BC30-E878386C129C}"/>
              </a:ext>
            </a:extLst>
          </p:cNvPr>
          <p:cNvCxnSpPr>
            <a:cxnSpLocks/>
            <a:stCxn id="54" idx="1"/>
            <a:endCxn id="55" idx="0"/>
          </p:cNvCxnSpPr>
          <p:nvPr/>
        </p:nvCxnSpPr>
        <p:spPr>
          <a:xfrm flipH="1">
            <a:off x="7850076" y="4148775"/>
            <a:ext cx="1407585" cy="4658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8" name="Прямая со стрелкой 18">
            <a:extLst>
              <a:ext uri="{FF2B5EF4-FFF2-40B4-BE49-F238E27FC236}">
                <a16:creationId xmlns:a16="http://schemas.microsoft.com/office/drawing/2014/main" id="{A68CD971-79E0-00B3-66A1-E4DAAFDD8C08}"/>
              </a:ext>
            </a:extLst>
          </p:cNvPr>
          <p:cNvCxnSpPr>
            <a:cxnSpLocks/>
            <a:stCxn id="55" idx="3"/>
            <a:endCxn id="56" idx="0"/>
          </p:cNvCxnSpPr>
          <p:nvPr/>
        </p:nvCxnSpPr>
        <p:spPr>
          <a:xfrm>
            <a:off x="9183495" y="4947695"/>
            <a:ext cx="1407604" cy="4608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1" name="Прямая со стрелкой 18">
            <a:extLst>
              <a:ext uri="{FF2B5EF4-FFF2-40B4-BE49-F238E27FC236}">
                <a16:creationId xmlns:a16="http://schemas.microsoft.com/office/drawing/2014/main" id="{D365745C-D86D-AFA5-0A97-BF88CA47EC11}"/>
              </a:ext>
            </a:extLst>
          </p:cNvPr>
          <p:cNvCxnSpPr>
            <a:cxnSpLocks/>
            <a:stCxn id="56" idx="1"/>
            <a:endCxn id="79" idx="0"/>
          </p:cNvCxnSpPr>
          <p:nvPr/>
        </p:nvCxnSpPr>
        <p:spPr>
          <a:xfrm flipH="1">
            <a:off x="7850076" y="5741676"/>
            <a:ext cx="1407604" cy="4223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7105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1A624D-6FE2-4F27-A3D5-5AD56BD34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312"/>
            <a:ext cx="10515600" cy="1087095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Используемые технологии</a:t>
            </a:r>
            <a:r>
              <a:rPr lang="ru-RU" sz="3600" b="1" i="0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C2A57B-390E-4005-B95E-CABD32350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186" y="1253407"/>
            <a:ext cx="6477000" cy="4351338"/>
          </a:xfrm>
        </p:spPr>
        <p:txBody>
          <a:bodyPr>
            <a:normAutofit/>
          </a:bodyPr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Python — язык реализации программного средства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FastAPI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,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Uvicorn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— серверная часть и REST API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SQLAlchemy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,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asyncpg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,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PostgreSQL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— работа с данными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Celery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— асинхронное выполнение фоновых задач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PyTorch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— обучение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нейросетевой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модели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scikit-learn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— предобработка и оценка качества 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OpenSearch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,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opensearch-py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— источник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audit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-логов</a:t>
            </a:r>
            <a:r>
              <a:rPr lang="ru-RU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</p:txBody>
      </p:sp>
      <p:pic>
        <p:nvPicPr>
          <p:cNvPr id="6146" name="Picture 2" descr="Introduction to Celery — Celery 5.5.3 documentation">
            <a:extLst>
              <a:ext uri="{FF2B5EF4-FFF2-40B4-BE49-F238E27FC236}">
                <a16:creationId xmlns:a16="http://schemas.microsoft.com/office/drawing/2014/main" id="{754BE2D8-5884-439D-99C4-0E92445F4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719" y="4271418"/>
            <a:ext cx="1705095" cy="1705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Python (programming language) - Wikipedia">
            <a:extLst>
              <a:ext uri="{FF2B5EF4-FFF2-40B4-BE49-F238E27FC236}">
                <a16:creationId xmlns:a16="http://schemas.microsoft.com/office/drawing/2014/main" id="{08B49685-6989-439A-8FDB-24D6FCA8B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318" y="1644968"/>
            <a:ext cx="1411923" cy="1411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FastAPI">
            <a:extLst>
              <a:ext uri="{FF2B5EF4-FFF2-40B4-BE49-F238E27FC236}">
                <a16:creationId xmlns:a16="http://schemas.microsoft.com/office/drawing/2014/main" id="{0E06C5BD-08BC-4C39-9142-AB83ADF50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241" y="1523351"/>
            <a:ext cx="3769360" cy="1358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What is SQLAlchemy?. An intro to ORM and SQLAlchemy. | by Priya Srivastava  | Medium">
            <a:extLst>
              <a:ext uri="{FF2B5EF4-FFF2-40B4-BE49-F238E27FC236}">
                <a16:creationId xmlns:a16="http://schemas.microsoft.com/office/drawing/2014/main" id="{61206D35-6C71-4E9C-9681-4EAF34D26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1162" y="2913122"/>
            <a:ext cx="3395740" cy="1358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AWS OpenSearch Service and DNS. AWS OpenSearch Service (formerly… | by Ian  Binder | Towards AWS">
            <a:extLst>
              <a:ext uri="{FF2B5EF4-FFF2-40B4-BE49-F238E27FC236}">
                <a16:creationId xmlns:a16="http://schemas.microsoft.com/office/drawing/2014/main" id="{7BE38177-47A6-4B04-8E56-AC51C990D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4472" y="4477200"/>
            <a:ext cx="2461255" cy="2461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 descr="PostgreSQL - Wikipedia">
            <a:extLst>
              <a:ext uri="{FF2B5EF4-FFF2-40B4-BE49-F238E27FC236}">
                <a16:creationId xmlns:a16="http://schemas.microsoft.com/office/drawing/2014/main" id="{9D412539-886B-4488-BD0D-F69DB17FE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4674" y="4622741"/>
            <a:ext cx="2139798" cy="2207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0" name="Picture 16" descr="Learning PyTorch: The Basic Program Structure | by Dagang Wei | Medium">
            <a:extLst>
              <a:ext uri="{FF2B5EF4-FFF2-40B4-BE49-F238E27FC236}">
                <a16:creationId xmlns:a16="http://schemas.microsoft.com/office/drawing/2014/main" id="{A2ADA5B5-96CE-4DD3-AC5C-8A3298098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48" y="4271418"/>
            <a:ext cx="48768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CAEE532F-8B15-7A3A-80E5-78731372580A}"/>
              </a:ext>
            </a:extLst>
          </p:cNvPr>
          <p:cNvSpPr txBox="1">
            <a:spLocks/>
          </p:cNvSpPr>
          <p:nvPr/>
        </p:nvSpPr>
        <p:spPr>
          <a:xfrm>
            <a:off x="11485982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13154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C925CA-A0DF-4A17-BADA-4941EC923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102"/>
            <a:ext cx="10515600" cy="1156181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Разработка и тестирование</a:t>
            </a:r>
            <a:r>
              <a:rPr lang="ru-RU" sz="3600" b="1" i="0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D2D3C6-C849-4B0F-104D-93B27299CD63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6BDEFF51-91E7-B58C-9F8C-DF70ABD53648}"/>
              </a:ext>
            </a:extLst>
          </p:cNvPr>
          <p:cNvSpPr txBox="1">
            <a:spLocks/>
          </p:cNvSpPr>
          <p:nvPr/>
        </p:nvSpPr>
        <p:spPr>
          <a:xfrm>
            <a:off x="543931" y="6465346"/>
            <a:ext cx="8081479" cy="348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  <a:hlinkClick r:id="rId2"/>
              </a:rPr>
              <a:t>https://github.com/GNDavydov/kubernetes-ad</a:t>
            </a:r>
            <a:endParaRPr lang="en-US" sz="200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endParaRPr lang="en-US" sz="20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712B35-4E28-B6EC-E043-DA427C9FE1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655" y="1295174"/>
            <a:ext cx="7526632" cy="19025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40E836B-56FC-665D-F4A0-BE5AA03486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018" y="789314"/>
            <a:ext cx="5516385" cy="40422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BA3C65F-4A17-7F4F-52A8-067A346C84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97" y="2714218"/>
            <a:ext cx="5964113" cy="3713308"/>
          </a:xfrm>
          <a:prstGeom prst="rect">
            <a:avLst/>
          </a:prstGeom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65551C39-3DC9-900F-59A7-AEE8F38FF258}"/>
              </a:ext>
            </a:extLst>
          </p:cNvPr>
          <p:cNvSpPr txBox="1">
            <a:spLocks/>
          </p:cNvSpPr>
          <p:nvPr/>
        </p:nvSpPr>
        <p:spPr>
          <a:xfrm>
            <a:off x="6174710" y="4873881"/>
            <a:ext cx="7499729" cy="19841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 fontAlgn="base">
              <a:buNone/>
            </a:pPr>
            <a:r>
              <a:rPr lang="ru-RU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Проведено тестирование</a:t>
            </a:r>
            <a:r>
              <a:rPr lang="en-US" sz="2000" b="1" dirty="0">
                <a:solidFill>
                  <a:srgbClr val="000000"/>
                </a:solidFill>
                <a:cs typeface="Times New Roman" panose="02020603050405020304" pitchFamily="18" charset="0"/>
              </a:rPr>
              <a:t>:</a:t>
            </a:r>
            <a:endParaRPr lang="ru-RU" sz="20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fontAlgn="base"/>
            <a:r>
              <a:rPr lang="ru-RU" sz="200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Загрузка </a:t>
            </a:r>
            <a:r>
              <a:rPr lang="en-US" sz="200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a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udit-</a:t>
            </a:r>
            <a:r>
              <a:rPr 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логов из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OpenSearch</a:t>
            </a:r>
          </a:p>
          <a:p>
            <a:pPr fontAlgn="base"/>
            <a:r>
              <a:rPr lang="ru-RU" sz="200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Обучение модели </a:t>
            </a:r>
            <a:r>
              <a:rPr lang="en-US" sz="200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LSTM-AE</a:t>
            </a:r>
          </a:p>
          <a:p>
            <a:pPr fontAlgn="base"/>
            <a:r>
              <a:rPr 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Генерация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alert </a:t>
            </a:r>
            <a:r>
              <a:rPr 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при превышении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threshold</a:t>
            </a:r>
          </a:p>
          <a:p>
            <a:pPr fontAlgn="base"/>
            <a:r>
              <a:rPr lang="ru-RU" sz="200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Вза</a:t>
            </a:r>
            <a:r>
              <a:rPr 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имодействие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Master </a:t>
            </a:r>
            <a:r>
              <a:rPr lang="ru-RU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и </a:t>
            </a:r>
            <a:r>
              <a:rPr lang="en-US" sz="2000" dirty="0">
                <a:solidFill>
                  <a:srgbClr val="000000"/>
                </a:solidFill>
                <a:cs typeface="Times New Roman" panose="02020603050405020304" pitchFamily="18" charset="0"/>
              </a:rPr>
              <a:t>Worker</a:t>
            </a:r>
            <a:endParaRPr lang="ru-RU" sz="200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endParaRPr lang="ru-RU" sz="20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076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E8A2C4-7FBB-4858-97AE-D54827B42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612"/>
            <a:ext cx="10515600" cy="1215971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Организационно-экономическая часть</a:t>
            </a:r>
            <a:r>
              <a:rPr lang="ru-RU" sz="3600" b="1" i="0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1E3235-E6B3-4398-820E-C41C5E553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79" y="1214006"/>
            <a:ext cx="7454603" cy="2594166"/>
          </a:xfrm>
        </p:spPr>
        <p:txBody>
          <a:bodyPr>
            <a:noAutofit/>
          </a:bodyPr>
          <a:lstStyle/>
          <a:p>
            <a:pPr marL="0" indent="0" algn="l" rtl="0" fontAlgn="base">
              <a:buNone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Для реализации проекта требуется </a:t>
            </a:r>
            <a:r>
              <a:rPr lang="ru-RU" sz="16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2 специалиста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:</a:t>
            </a:r>
            <a:r>
              <a:rPr lang="en-US" sz="16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Аналитик</a:t>
            </a:r>
            <a:r>
              <a:rPr lang="en-US" sz="16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Инженер</a:t>
            </a:r>
            <a:r>
              <a:rPr lang="en-US" sz="16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marL="0" indent="0" algn="l" rtl="0" fontAlgn="base">
              <a:buNone/>
            </a:pPr>
            <a:r>
              <a:rPr lang="ru-RU" sz="16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Общая трудоёмкость выполнения работ по проекту составляет </a:t>
            </a:r>
            <a:r>
              <a:rPr lang="ru-RU" sz="16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128,4 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чел.-</a:t>
            </a:r>
            <a:r>
              <a:rPr lang="ru-RU" sz="16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дн</a:t>
            </a:r>
            <a:r>
              <a:rPr lang="ru-RU" sz="16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 дне</a:t>
            </a:r>
            <a:r>
              <a:rPr lang="ru-RU" sz="16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​й</a:t>
            </a:r>
            <a:endParaRPr lang="en-US" sz="16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ru-RU" sz="1600" dirty="0">
                <a:solidFill>
                  <a:srgbClr val="000000"/>
                </a:solidFill>
                <a:cs typeface="Times New Roman" panose="02020603050405020304" pitchFamily="18" charset="0"/>
              </a:rPr>
              <a:t>Суммарные затраты на разработку и реализацию программного продукта составляют </a:t>
            </a:r>
            <a:r>
              <a:rPr lang="ru-RU" sz="1600" b="1" dirty="0">
                <a:solidFill>
                  <a:srgbClr val="000000"/>
                </a:solidFill>
                <a:cs typeface="Times New Roman" panose="02020603050405020304" pitchFamily="18" charset="0"/>
              </a:rPr>
              <a:t>3 017 244 </a:t>
            </a:r>
            <a:r>
              <a:rPr lang="ru-RU" sz="1600" dirty="0">
                <a:solidFill>
                  <a:srgbClr val="000000"/>
                </a:solidFill>
                <a:cs typeface="Times New Roman" panose="02020603050405020304" pitchFamily="18" charset="0"/>
              </a:rPr>
              <a:t>рублей</a:t>
            </a:r>
            <a:endParaRPr lang="en-US" sz="160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ru-RU" sz="1600" dirty="0">
                <a:solidFill>
                  <a:srgbClr val="000000"/>
                </a:solidFill>
                <a:cs typeface="Times New Roman" panose="02020603050405020304" pitchFamily="18" charset="0"/>
              </a:rPr>
              <a:t>Ожидаемая прибыль от реализации одного экземпляра изделия составляет </a:t>
            </a:r>
            <a:r>
              <a:rPr lang="ru-RU" sz="1600" b="1" dirty="0">
                <a:solidFill>
                  <a:srgbClr val="000000"/>
                </a:solidFill>
                <a:cs typeface="Times New Roman" panose="02020603050405020304" pitchFamily="18" charset="0"/>
              </a:rPr>
              <a:t>655 200 </a:t>
            </a:r>
            <a:r>
              <a:rPr lang="ru-RU" sz="1600" dirty="0" err="1">
                <a:solidFill>
                  <a:srgbClr val="000000"/>
                </a:solidFill>
                <a:cs typeface="Times New Roman" panose="02020603050405020304" pitchFamily="18" charset="0"/>
              </a:rPr>
              <a:t>руб</a:t>
            </a:r>
            <a:r>
              <a:rPr lang="ru-RU" sz="1600" dirty="0">
                <a:solidFill>
                  <a:srgbClr val="000000"/>
                </a:solidFill>
                <a:cs typeface="Times New Roman" panose="02020603050405020304" pitchFamily="18" charset="0"/>
              </a:rPr>
              <a:t>​лей.</a:t>
            </a:r>
          </a:p>
          <a:p>
            <a:pPr marL="0" indent="0" fontAlgn="base">
              <a:buNone/>
            </a:pPr>
            <a:r>
              <a:rPr lang="ru-RU" sz="1600" dirty="0">
                <a:solidFill>
                  <a:srgbClr val="000000"/>
                </a:solidFill>
                <a:cs typeface="Times New Roman" panose="02020603050405020304" pitchFamily="18" charset="0"/>
              </a:rPr>
              <a:t>​</a:t>
            </a:r>
            <a:endParaRPr lang="en-US" sz="1600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endParaRPr lang="ru-RU" sz="16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</p:txBody>
      </p:sp>
      <p:pic>
        <p:nvPicPr>
          <p:cNvPr id="7170" name="Picture 2" descr="Изображение выглядит как текст, снимок экрана, число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0D33E12-3EB4-43E9-AD15-98BF9395C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" y="3897903"/>
            <a:ext cx="11196320" cy="2749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26059DC8-7C47-84C9-7A31-B00B10B96662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pic>
        <p:nvPicPr>
          <p:cNvPr id="5" name="Picture 2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3094BA1-A954-4A49-54E5-44BA628AB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463" y="900035"/>
            <a:ext cx="4268058" cy="2908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2947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FD7101-2A69-47E0-88AE-44B5C2F29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4407"/>
            <a:ext cx="10515600" cy="1074793"/>
          </a:xfrm>
        </p:spPr>
        <p:txBody>
          <a:bodyPr>
            <a:normAutofit/>
          </a:bodyPr>
          <a:lstStyle/>
          <a:p>
            <a:r>
              <a:rPr lang="ru-RU" sz="3600" b="1" i="0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Организационно-правовая часть</a:t>
            </a:r>
            <a:r>
              <a:rPr lang="ru-RU" sz="3600" b="1" i="0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227B39-D97B-457E-8A20-68EA28044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568" y="1457489"/>
            <a:ext cx="10741231" cy="4575175"/>
          </a:xfrm>
        </p:spPr>
        <p:txBody>
          <a:bodyPr>
            <a:normAutofit/>
          </a:bodyPr>
          <a:lstStyle/>
          <a:p>
            <a:pPr marL="0" indent="0" algn="l" rtl="0" fontAlgn="base">
              <a:buNone/>
            </a:pPr>
            <a:r>
              <a:rPr lang="ru-RU" sz="20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В рамках правового анализа были рассмотрены следующие нормативные правовые акты:</a:t>
            </a:r>
            <a:r>
              <a:rPr lang="en-US" sz="20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4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Конституция Российской Федерации </a:t>
            </a:r>
            <a:r>
              <a:rPr lang="ru-RU" sz="24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4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ФЗ №149-ФЗ «Об информации, информационных технологиях и о защите информации» </a:t>
            </a:r>
            <a:r>
              <a:rPr lang="ru-RU" sz="24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4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ФЗ №152-ФЗ «О персональных данных» </a:t>
            </a:r>
            <a:r>
              <a:rPr lang="ru-RU" sz="24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4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ФЗ №187-ФЗ «О безопасности критической информационной инфраструктуры РФ» </a:t>
            </a:r>
            <a:r>
              <a:rPr lang="ru-RU" sz="24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4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Постановление Правительства РФ №1119 </a:t>
            </a:r>
            <a:r>
              <a:rPr lang="ru-RU" sz="24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4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Приказ ФСТЭК России №21 </a:t>
            </a:r>
            <a:r>
              <a:rPr lang="ru-RU" sz="24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24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Приказ ФСТЭК России №117 </a:t>
            </a:r>
            <a:r>
              <a:rPr lang="ru-RU" sz="24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marL="0" indent="0" algn="l" rtl="0" fontAlgn="base">
              <a:buNone/>
            </a:pPr>
            <a:endParaRPr lang="ru-RU" sz="20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endParaRPr lang="ru-RU" sz="2000" dirty="0">
              <a:cs typeface="Times New Roman" panose="02020603050405020304" pitchFamily="18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2DE778AC-5652-74DA-5E37-BF60278EEA2F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316581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CF38A6-98F6-430D-BBCF-91F49935B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375"/>
            <a:ext cx="10515600" cy="970702"/>
          </a:xfrm>
        </p:spPr>
        <p:txBody>
          <a:bodyPr>
            <a:normAutofit/>
          </a:bodyPr>
          <a:lstStyle/>
          <a:p>
            <a:r>
              <a:rPr lang="ru-RU" sz="3600" b="1" u="none" strike="noStrike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Заключение</a:t>
            </a:r>
            <a:r>
              <a:rPr lang="ru-RU" sz="3600" b="1" dirty="0">
                <a:solidFill>
                  <a:srgbClr val="000000"/>
                </a:solidFill>
                <a:effectLst/>
                <a:latin typeface="+mn-lt"/>
                <a:cs typeface="Times New Roman" panose="02020603050405020304" pitchFamily="18" charset="0"/>
              </a:rPr>
              <a:t>​</a:t>
            </a:r>
            <a:endParaRPr lang="ru-RU" sz="3600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7A9FFE-39DA-4BC0-8138-124B6636C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937"/>
            <a:ext cx="10515600" cy="5191401"/>
          </a:xfrm>
        </p:spPr>
        <p:txBody>
          <a:bodyPr>
            <a:noAutofit/>
          </a:bodyPr>
          <a:lstStyle/>
          <a:p>
            <a:pPr marL="0" indent="0" algn="l" rtl="0" fontAlgn="base">
              <a:buNone/>
            </a:pPr>
            <a:r>
              <a:rPr lang="ru-RU" sz="1800" b="1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В рамках выпускной квалификационной работы выполнены поставленные задачи: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Проведён анализ методов обнаружения аномалий и особенностей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Kubernetes</a:t>
            </a:r>
            <a:r>
              <a:rPr lang="en-US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;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Рассмотрены существующие подходы обнаружения аномалий в </a:t>
            </a:r>
            <a:r>
              <a:rPr lang="en-US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Kubernetes-</a:t>
            </a:r>
            <a:r>
              <a:rPr lang="ru-RU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кластере</a:t>
            </a:r>
            <a:r>
              <a:rPr lang="en-US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;</a:t>
            </a:r>
            <a:endParaRPr lang="en-US" sz="18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Сформулирована математическая постановка задачи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;</a:t>
            </a:r>
            <a:endParaRPr lang="en-US" sz="18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Сформирован набор 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audit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-логов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​;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Проведено обучение различных моделей: LSTM-AE, RNN-AE, AE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​;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Выбрана НС на основе LSTM-AE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;</a:t>
            </a:r>
            <a:endParaRPr lang="en-US" sz="18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Разработана архитектура </a:t>
            </a:r>
            <a:r>
              <a:rPr lang="ru-RU" sz="1800" dirty="0">
                <a:solidFill>
                  <a:srgbClr val="000000"/>
                </a:solidFill>
                <a:cs typeface="Times New Roman" panose="02020603050405020304" pitchFamily="18" charset="0"/>
              </a:rPr>
              <a:t>средства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(Master–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Worker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)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;</a:t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 </a:t>
            </a:r>
            <a:r>
              <a:rPr lang="ru-RU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Реализовано программное средство обнаружения аномалий и проведено его тестирование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;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Обоснована экономическая целесообразность решения</a:t>
            </a:r>
            <a:r>
              <a:rPr lang="en-US" sz="1800" u="none" strike="noStrike" dirty="0">
                <a:solidFill>
                  <a:srgbClr val="000000"/>
                </a:solidFill>
                <a:cs typeface="Times New Roman" panose="02020603050405020304" pitchFamily="18" charset="0"/>
              </a:rPr>
              <a:t>;</a:t>
            </a:r>
            <a:endParaRPr lang="ru-RU" sz="1800" b="0" i="0" dirty="0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Приведено правовое обоснование выполнения выпускной работы</a:t>
            </a:r>
            <a:r>
              <a:rPr lang="en-US" sz="1800" b="0" i="0" dirty="0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​.</a:t>
            </a:r>
            <a:endParaRPr lang="ru-RU" sz="18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ECEC799A-F348-D1F4-940C-68B5929A8912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149889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59044-D881-37F2-A78B-1AE3AB311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4BF8B3-E7E0-6575-A717-E0EE6D50D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375"/>
            <a:ext cx="10515600" cy="970702"/>
          </a:xfrm>
        </p:spPr>
        <p:txBody>
          <a:bodyPr>
            <a:normAutofit/>
          </a:bodyPr>
          <a:lstStyle/>
          <a:p>
            <a:r>
              <a:rPr lang="ru-RU" sz="3600" b="1" dirty="0">
                <a:latin typeface="+mn-lt"/>
              </a:rPr>
              <a:t>Перспективы развития разработанного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521EC1-EE26-CCE2-EF00-338A4847E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937"/>
            <a:ext cx="10515600" cy="5191401"/>
          </a:xfrm>
        </p:spPr>
        <p:txBody>
          <a:bodyPr>
            <a:noAutofit/>
          </a:bodyPr>
          <a:lstStyle/>
          <a:p>
            <a:r>
              <a:rPr lang="ru-RU" sz="2000" b="1" dirty="0"/>
              <a:t>Интеграция разработанной системы с инструментами мониторинга</a:t>
            </a:r>
            <a:r>
              <a:rPr lang="ru-RU" sz="2000" dirty="0"/>
              <a:t>, </a:t>
            </a:r>
            <a:r>
              <a:rPr lang="en-US" sz="2000" dirty="0"/>
              <a:t>SIEM- </a:t>
            </a:r>
            <a:r>
              <a:rPr lang="ru-RU" sz="2000" dirty="0"/>
              <a:t>и </a:t>
            </a:r>
            <a:r>
              <a:rPr lang="en-US" sz="2000" dirty="0"/>
              <a:t>SOAR-</a:t>
            </a:r>
            <a:r>
              <a:rPr lang="ru-RU" sz="2000" dirty="0"/>
              <a:t>платформами для централизованного анализа событий безопасности и автоматизации реагирования на инциденты;</a:t>
            </a:r>
          </a:p>
          <a:p>
            <a:r>
              <a:rPr lang="ru-RU" sz="2000" b="1" dirty="0"/>
              <a:t>Расширение набора используемых моделей НС</a:t>
            </a:r>
            <a:r>
              <a:rPr lang="ru-RU" sz="2000" dirty="0"/>
              <a:t>, включая исследование </a:t>
            </a:r>
            <a:r>
              <a:rPr lang="ru-RU" sz="2000" dirty="0" err="1"/>
              <a:t>трансформерных</a:t>
            </a:r>
            <a:r>
              <a:rPr lang="ru-RU" sz="2000" dirty="0"/>
              <a:t> архитектур, гибридных моделей и методов адаптивного обучения;</a:t>
            </a:r>
          </a:p>
          <a:p>
            <a:r>
              <a:rPr lang="ru-RU" sz="2000" b="1" dirty="0"/>
              <a:t>Адаптация системы под различные типы инфраструктур</a:t>
            </a:r>
            <a:r>
              <a:rPr lang="ru-RU" sz="2000" dirty="0"/>
              <a:t>, включая облачные, гибридные и </a:t>
            </a:r>
            <a:r>
              <a:rPr lang="ru-RU" sz="2000" dirty="0" err="1"/>
              <a:t>мультикластерные</a:t>
            </a:r>
            <a:r>
              <a:rPr lang="ru-RU" sz="2000" dirty="0"/>
              <a:t> среды, а также поддержку других платформ контейнерной </a:t>
            </a:r>
            <a:r>
              <a:rPr lang="ru-RU" sz="2000" dirty="0" err="1"/>
              <a:t>оркестрации</a:t>
            </a:r>
            <a:r>
              <a:rPr lang="ru-RU" sz="2000" dirty="0"/>
              <a:t>;</a:t>
            </a:r>
          </a:p>
          <a:p>
            <a:r>
              <a:rPr lang="ru-RU" sz="2000" b="1" dirty="0"/>
              <a:t>Разработка средств визуализации цепочек аномальных событий </a:t>
            </a:r>
            <a:r>
              <a:rPr lang="ru-RU" sz="2000" dirty="0"/>
              <a:t>и механизмов интерпретации результатов работы модели для повышения удобства анализа инцидентов специалистами по информационной безопасности.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88B91731-3C77-82C0-516E-5740F51D5962}"/>
              </a:ext>
            </a:extLst>
          </p:cNvPr>
          <p:cNvSpPr txBox="1">
            <a:spLocks/>
          </p:cNvSpPr>
          <p:nvPr/>
        </p:nvSpPr>
        <p:spPr>
          <a:xfrm>
            <a:off x="11353800" y="6421492"/>
            <a:ext cx="807378" cy="43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941855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1291</Words>
  <Application>Microsoft Macintosh PowerPoint</Application>
  <PresentationFormat>Widescreen</PresentationFormat>
  <Paragraphs>272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Courier New</vt:lpstr>
      <vt:lpstr>Times New Roman</vt:lpstr>
      <vt:lpstr>Тема Office</vt:lpstr>
      <vt:lpstr>Разработка средства обнаружения аномалий в Kubernetes-кластере на основе нейронных сетей​</vt:lpstr>
      <vt:lpstr>Цель и задачи ВКР​</vt:lpstr>
      <vt:lpstr>Актуальность</vt:lpstr>
      <vt:lpstr>Обзор методов​</vt:lpstr>
      <vt:lpstr>Анализ существующих решений​</vt:lpstr>
      <vt:lpstr>Математическая постановка задачи​</vt:lpstr>
      <vt:lpstr>Кодирование событий audit-логов Kubernetes​</vt:lpstr>
      <vt:lpstr>Формирование набора данных​</vt:lpstr>
      <vt:lpstr>Анализ полученного набора данных​</vt:lpstr>
      <vt:lpstr>Обучение моделей​</vt:lpstr>
      <vt:lpstr>Сравнение результатов моделей</vt:lpstr>
      <vt:lpstr>Архитектура ​</vt:lpstr>
      <vt:lpstr>Обучение НС/Обнаружения аномалий</vt:lpstr>
      <vt:lpstr>Используемые технологии​</vt:lpstr>
      <vt:lpstr>Разработка и тестирование​</vt:lpstr>
      <vt:lpstr>Организационно-экономическая часть​</vt:lpstr>
      <vt:lpstr>Организационно-правовая часть​</vt:lpstr>
      <vt:lpstr>Заключение​</vt:lpstr>
      <vt:lpstr>Перспективы развития разработанного решения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средства обнаружения аномалий в Kubernetes-кластере на основе нейронных сетей​</dc:title>
  <dc:creator>Давыдов Григорий Никитич</dc:creator>
  <cp:lastModifiedBy>Nikolai Davydov</cp:lastModifiedBy>
  <cp:revision>45</cp:revision>
  <dcterms:created xsi:type="dcterms:W3CDTF">2026-04-21T13:12:14Z</dcterms:created>
  <dcterms:modified xsi:type="dcterms:W3CDTF">2026-05-17T16:53:25Z</dcterms:modified>
</cp:coreProperties>
</file>
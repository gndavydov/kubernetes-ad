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4" autoAdjust="0"/>
    <p:restoredTop sz="94660"/>
  </p:normalViewPr>
  <p:slideViewPr>
    <p:cSldViewPr snapToGrid="0">
      <p:cViewPr>
        <p:scale>
          <a:sx n="125" d="100"/>
          <a:sy n="125" d="100"/>
        </p:scale>
        <p:origin x="9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D2522-8A0C-4C4C-8687-64A04BB1C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17B7B1-FEE6-47EF-8587-0FF592E6D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09288B-BEA7-4F73-9D99-7DB1003D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719DEB-9802-4EBF-96DC-7DBFEDE3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88489C-BD1D-48AD-850D-B6F196CF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80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30EE9-7A6E-4809-8B22-B43C6519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049B69-39BB-4D38-83C0-2542898F2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B0A07-6C76-4E2B-95D7-C0105DEA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35944D-6296-4144-8EDD-452949F2B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936F7A-5E95-4634-AD65-304C3EC7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89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4A78C-982F-45C9-82A1-344F8BBE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40BB34-D024-4C58-9849-DDAF4F523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B105A2-B0DB-43CA-8909-FE5754DC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2A6F11-E72D-4DAC-965B-BD31870E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266DE-2231-42C0-9B4C-D9940796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03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BCC17-3DD9-4B30-8D47-4B86579B4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CD02A-1483-4EE6-AE7F-3341EF253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76C3DC-17B4-4F23-8682-5F93E6DD1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6C3241-9B5D-4685-8FAC-6B0C89B0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C7C779-61B4-43EF-88C7-1E689D8F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595C58-FB3F-4EDD-8BF9-15C1CB0B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56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6CAF7-8C5F-461F-A853-C59E2CB9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C329A4-0045-448D-80CB-4AF6EED0C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B4981F-76DA-450C-9349-D98BBE841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D62AAA-2B9E-406C-B055-677EDDB6F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76F746-84D9-471B-A876-143CFE151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37AD53-1EDE-47C4-9BD7-9E3501EF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C614F9-75D8-4595-BBE3-9E17BF25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62DAA7-8AEF-438E-B467-AB0CF8BA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26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70A60-6E6F-4D43-B3F9-F7DFE7D9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E1B430-99EE-4C80-BD0B-21115CDF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81380E-E09A-4F2E-AE90-B886999B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4113F7-5C64-4913-A497-9B7BAAC7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49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D6E00B-AF4F-437A-B9AC-69DC42D6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3DBE2B-6038-4E71-B871-67839977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708C83-3FAD-49AF-BDD8-D26FF2FB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30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B3823-B986-4A95-8F9F-D228F142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BB366-6AF4-427B-B2F6-DF33F5C1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D275EC-A5F9-4D1E-B78F-ED5059CD6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DFBF34-FC9D-4822-8700-C35F1FDC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E15C81-3D78-4E35-A7C5-967BC8FF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7993FB-637C-4D82-8E8F-38832849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81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3E798-2491-421D-84DB-4F38959A2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3717AE-095F-4DC3-B1B9-6C8562351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9DBEB9-A024-453F-9B58-4FC151C0A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9135C8-DC33-481B-A91B-F3151991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15C30D-2BB6-4689-BBE6-16F0CD0A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226AD4-4425-4BB4-84D5-4ADB058A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47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072C1-3B26-4794-8AAC-0D3AEFF5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E193DA-4A17-4F39-A5EC-A8331F618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860AD-D63B-4ACC-8CE4-58E13EA4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4CC770-B572-4F14-9FC4-521EA20D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489D5A-D9A2-4941-ADBD-9314E20E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6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5F7F7B-684A-4A2A-B44B-2A64C3562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96BFCB-FD5A-4460-9D66-9A78C593C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ABA282-60A8-4793-BA3C-CDD3F7D4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98F096-0BE5-4C99-B411-6BB2ACAB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66FA51-95D8-4E6B-B156-CE09D47F0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8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87BBE-0F10-4332-8581-0D803EF79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8FCA94-0E51-4688-A67B-3C25C82B6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5A2DB2-B0EB-484C-84F4-3E3AED35C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9C1F6-7819-4276-8CF8-A4838A687BA1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0C7DA3-3705-4742-A505-B0B0CE072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862BFD-2645-4B21-93D0-BBAC2DC40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44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GNDavydov/kubernetes-a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B58B8-6901-4209-89EF-31B4D5437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Разработка средства обнаружения аномалий в </a:t>
            </a:r>
            <a:r>
              <a:rPr lang="ru-RU" sz="3200" b="1" i="0" u="none" strike="noStrike" dirty="0" err="1">
                <a:solidFill>
                  <a:srgbClr val="000000"/>
                </a:solidFill>
                <a:effectLst/>
                <a:latin typeface="+mn-lt"/>
              </a:rPr>
              <a:t>Kubernetes</a:t>
            </a:r>
            <a:r>
              <a:rPr lang="ru-RU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-кластере на основе нейронных сетей</a:t>
            </a:r>
            <a:r>
              <a:rPr lang="ru-RU" sz="3200" b="1" i="0" dirty="0">
                <a:solidFill>
                  <a:srgbClr val="000000"/>
                </a:solidFill>
                <a:effectLst/>
                <a:latin typeface="+mn-lt"/>
              </a:rPr>
              <a:t>​</a:t>
            </a:r>
            <a:endParaRPr lang="ru-RU" sz="3200" b="1" dirty="0"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834795-7DE4-44CD-98D0-048E6E66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859"/>
            <a:ext cx="9144000" cy="1655762"/>
          </a:xfrm>
        </p:spPr>
        <p:txBody>
          <a:bodyPr/>
          <a:lstStyle/>
          <a:p>
            <a:pPr algn="ctr" rtl="0" fontAlgn="base"/>
            <a:r>
              <a:rPr lang="ru-RU" sz="1800" dirty="0">
                <a:solidFill>
                  <a:srgbClr val="000000"/>
                </a:solidFill>
                <a:latin typeface="+mj-lt"/>
              </a:rPr>
              <a:t>Студент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 группы ИУ8-121 Давыдов Г</a:t>
            </a:r>
            <a:r>
              <a:rPr lang="ru-RU" sz="1800" dirty="0">
                <a:solidFill>
                  <a:srgbClr val="000000"/>
                </a:solidFill>
                <a:latin typeface="+mj-lt"/>
              </a:rPr>
              <a:t>ригорий Никитич</a:t>
            </a:r>
            <a:endParaRPr lang="en-US" sz="1800" b="0" i="0" dirty="0">
              <a:solidFill>
                <a:srgbClr val="000000"/>
              </a:solidFill>
              <a:effectLst/>
              <a:latin typeface="+mj-lt"/>
            </a:endParaRPr>
          </a:p>
          <a:p>
            <a:pPr algn="ctr" rtl="0" fontAlgn="base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Научный руководитель: старший преподаватель кафедры ИУ8 Гудков О</a:t>
            </a:r>
            <a:r>
              <a:rPr lang="ru-RU" sz="1800" dirty="0">
                <a:solidFill>
                  <a:srgbClr val="000000"/>
                </a:solidFill>
                <a:latin typeface="+mj-lt"/>
              </a:rPr>
              <a:t>лег Владимирович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+mj-lt"/>
              </a:rPr>
              <a:t>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B8DD0-CF75-D272-79FE-90DA448B85B5}"/>
              </a:ext>
            </a:extLst>
          </p:cNvPr>
          <p:cNvSpPr txBox="1"/>
          <p:nvPr/>
        </p:nvSpPr>
        <p:spPr>
          <a:xfrm>
            <a:off x="5268690" y="6457890"/>
            <a:ext cx="16546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Москва, 2026</a:t>
            </a:r>
            <a:endParaRPr lang="en-RU" sz="2000" dirty="0"/>
          </a:p>
        </p:txBody>
      </p:sp>
      <p:pic>
        <p:nvPicPr>
          <p:cNvPr id="5" name="Picture 6" descr="Изображение выглядит как текст, Шрифт, снимок экрана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7661D0-C3CF-AB4A-5E0B-7A4D9649F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563"/>
            <a:ext cx="12192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35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507C3-63FE-4386-AFF8-D04D89E1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87"/>
            <a:ext cx="10515600" cy="99621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+mn-lt"/>
                <a:cs typeface="Times New Roman" panose="02020603050405020304" pitchFamily="18" charset="0"/>
              </a:rPr>
              <a:t>Цель и задачи ВКР​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9D05A3-6342-4326-877E-F38536E0E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" y="1052883"/>
            <a:ext cx="10916920" cy="5805117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Цель: </a:t>
            </a:r>
            <a:r>
              <a:rPr lang="ru-RU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fontAlgn="base">
              <a:buNone/>
            </a:pPr>
            <a:r>
              <a:rPr lang="ru-RU" sz="1800" dirty="0"/>
              <a:t>Повышение безопасности </a:t>
            </a:r>
            <a:r>
              <a:rPr lang="en-US" sz="1800" dirty="0"/>
              <a:t>Kubernetes-</a:t>
            </a:r>
            <a:r>
              <a:rPr lang="ru-RU" sz="1800" dirty="0"/>
              <a:t>кластера путём внедрения средства на основе нейронных сетей для обнаружения аномального поведения.</a:t>
            </a:r>
          </a:p>
          <a:p>
            <a:pPr marL="0" indent="0" fontAlgn="base">
              <a:buNone/>
            </a:pP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Задачи:</a:t>
            </a:r>
            <a:r>
              <a:rPr lang="ru-RU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Анализ методов обнаружения аномалий в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контейнерных средах;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Обзор и анализ существующих решений;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Формулировка математической постановки задачи и выбор метода решения;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Формирование набора данных для обучения моделей;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Обучение моделей нейронных сетей;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Сравнение полученных результатов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Разработка архитектуры системы обнаружения аномалий;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Реализация программного средства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</a:p>
          <a:p>
            <a:pPr fontAlgn="base"/>
            <a:r>
              <a:rPr lang="ru-RU" sz="1800" dirty="0">
                <a:cs typeface="Times New Roman" panose="02020603050405020304" pitchFamily="18" charset="0"/>
              </a:rPr>
              <a:t>Обоснование экономической целесообразности  выпускной квалификационной работы</a:t>
            </a:r>
            <a:r>
              <a:rPr lang="en-US" sz="1800" dirty="0">
                <a:cs typeface="Times New Roman" panose="02020603050405020304" pitchFamily="18" charset="0"/>
              </a:rPr>
              <a:t>;</a:t>
            </a:r>
            <a:endParaRPr lang="ru-RU" sz="1800" dirty="0">
              <a:cs typeface="Times New Roman" panose="02020603050405020304" pitchFamily="18" charset="0"/>
            </a:endParaRPr>
          </a:p>
          <a:p>
            <a:pPr fontAlgn="base"/>
            <a:r>
              <a:rPr lang="ru-RU" sz="1800" dirty="0">
                <a:cs typeface="Times New Roman" panose="02020603050405020304" pitchFamily="18" charset="0"/>
              </a:rPr>
              <a:t>Анализ действующего законодательства Российской Федерации, регулирующего правовое обоснование выполнения выпускной квалификационной работы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29DBD63-DC22-F288-2E6F-7A93CD1896B6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1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D6C4B-38E2-4871-8544-AC7623FCC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084765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Обзор методов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030B2-1866-4BDF-AF96-B4C6B3517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84" y="1237957"/>
            <a:ext cx="3570514" cy="5008098"/>
          </a:xfrm>
        </p:spPr>
        <p:txBody>
          <a:bodyPr>
            <a:normAutofit fontScale="92500" lnSpcReduction="20000"/>
          </a:bodyPr>
          <a:lstStyle/>
          <a:p>
            <a:pPr marL="0" indent="0" algn="l" rtl="0" fontAlgn="base">
              <a:buNone/>
            </a:pPr>
            <a:r>
              <a:rPr lang="ru-RU" sz="2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Статические методы:</a:t>
            </a:r>
            <a:r>
              <a:rPr lang="ru-RU" sz="2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Сигнатурный анализ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Правило-ориентированные методы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Пороговые методы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белых и чёрных списков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Методы, основанные на марковских процессах</a:t>
            </a:r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ru-RU" sz="2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требуют обучения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Основаны на заранее заданных правилах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 для известных угроз 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выявляют новые типы атак</a:t>
            </a:r>
            <a:r>
              <a:rPr lang="ru-RU" sz="1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88C8D59-84CA-4DC9-AAEC-C3006888E9B9}"/>
              </a:ext>
            </a:extLst>
          </p:cNvPr>
          <p:cNvSpPr txBox="1">
            <a:spLocks/>
          </p:cNvSpPr>
          <p:nvPr/>
        </p:nvSpPr>
        <p:spPr>
          <a:xfrm>
            <a:off x="4408714" y="1237957"/>
            <a:ext cx="3570514" cy="5303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4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Машинное </a:t>
            </a:r>
            <a:r>
              <a:rPr lang="ru-RU" sz="26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обучение</a:t>
            </a:r>
            <a:r>
              <a:rPr lang="ru-RU" sz="24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</a:t>
            </a:r>
            <a:r>
              <a:rPr lang="ru-RU" sz="24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K-ближайших соседей (K-NN)</a:t>
            </a:r>
            <a:r>
              <a:rPr lang="ru-RU" sz="22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Isolation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Forest</a:t>
            </a:r>
            <a:r>
              <a:rPr lang="ru-RU" sz="22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2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Random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Cut</a:t>
            </a:r>
            <a:r>
              <a:rPr lang="ru-RU" sz="22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2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Forest</a:t>
            </a:r>
            <a:r>
              <a:rPr lang="ru-RU" sz="22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en-US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en-US" sz="21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ru-RU" sz="4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ru-RU" sz="4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ru-RU" sz="4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2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Особенности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</a:t>
            </a:r>
            <a:r>
              <a:rPr lang="en-US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Обучение на исторических данных </a:t>
            </a:r>
            <a:r>
              <a:rPr lang="ru-RU" sz="19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Выявление отклонений </a:t>
            </a:r>
            <a:r>
              <a:rPr lang="ru-RU" sz="19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Подходит для поиска неизвестных аномалий</a:t>
            </a:r>
            <a:r>
              <a:rPr lang="ru-RU" sz="19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9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Требует качественных данных и настройки</a:t>
            </a:r>
            <a:r>
              <a:rPr lang="ru-RU" sz="19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51AC96E-74F2-42DB-A3FA-E5A15F5E0696}"/>
              </a:ext>
            </a:extLst>
          </p:cNvPr>
          <p:cNvSpPr txBox="1">
            <a:spLocks/>
          </p:cNvSpPr>
          <p:nvPr/>
        </p:nvSpPr>
        <p:spPr>
          <a:xfrm>
            <a:off x="8217437" y="1237956"/>
            <a:ext cx="3570514" cy="53035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2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Нейронные сети:</a:t>
            </a:r>
            <a:r>
              <a:rPr lang="en-US" sz="22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Рекуррентные нейронные сети (RNN)</a:t>
            </a:r>
            <a:r>
              <a:rPr lang="en-US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Сети с долгой краткосрочной памятью (LSTM)</a:t>
            </a:r>
            <a:r>
              <a:rPr lang="en-US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Автоэнкодеры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(AE)</a:t>
            </a:r>
            <a:r>
              <a:rPr lang="en-US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ru-RU" sz="16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en-US" sz="6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22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Особенности:</a:t>
            </a:r>
            <a:r>
              <a:rPr lang="en-US" sz="22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Работа с последовательностями данных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Учёт временных зависимостей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Выявление сложных нелинейных аномалий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Высокая точность на логах и метриках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BA6CC06-F855-4038-BE22-3CFBB37E8907}"/>
              </a:ext>
            </a:extLst>
          </p:cNvPr>
          <p:cNvCxnSpPr>
            <a:cxnSpLocks/>
          </p:cNvCxnSpPr>
          <p:nvPr/>
        </p:nvCxnSpPr>
        <p:spPr>
          <a:xfrm>
            <a:off x="4313298" y="1237957"/>
            <a:ext cx="0" cy="5183535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450320A-1C16-498B-89CA-33867A6EC702}"/>
              </a:ext>
            </a:extLst>
          </p:cNvPr>
          <p:cNvCxnSpPr>
            <a:cxnSpLocks/>
          </p:cNvCxnSpPr>
          <p:nvPr/>
        </p:nvCxnSpPr>
        <p:spPr>
          <a:xfrm>
            <a:off x="7979228" y="1237957"/>
            <a:ext cx="0" cy="5183535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Объект 2">
            <a:extLst>
              <a:ext uri="{FF2B5EF4-FFF2-40B4-BE49-F238E27FC236}">
                <a16:creationId xmlns:a16="http://schemas.microsoft.com/office/drawing/2014/main" id="{06DC3AB5-3777-8673-8B64-E0C47FC8071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4859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5057E-466A-4E71-B7B6-4BE7FCAC5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156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Анализ существующих решений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843B636-EDB3-4A06-B724-F0FAF3DE7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054303"/>
              </p:ext>
            </p:extLst>
          </p:nvPr>
        </p:nvGraphicFramePr>
        <p:xfrm>
          <a:off x="1042306" y="1690688"/>
          <a:ext cx="10311493" cy="3154167"/>
        </p:xfrm>
        <a:graphic>
          <a:graphicData uri="http://schemas.openxmlformats.org/drawingml/2006/table">
            <a:tbl>
              <a:tblPr/>
              <a:tblGrid>
                <a:gridCol w="1455215">
                  <a:extLst>
                    <a:ext uri="{9D8B030D-6E8A-4147-A177-3AD203B41FA5}">
                      <a16:colId xmlns:a16="http://schemas.microsoft.com/office/drawing/2014/main" val="3014374452"/>
                    </a:ext>
                  </a:extLst>
                </a:gridCol>
                <a:gridCol w="1321300">
                  <a:extLst>
                    <a:ext uri="{9D8B030D-6E8A-4147-A177-3AD203B41FA5}">
                      <a16:colId xmlns:a16="http://schemas.microsoft.com/office/drawing/2014/main" val="3363837146"/>
                    </a:ext>
                  </a:extLst>
                </a:gridCol>
                <a:gridCol w="2160503">
                  <a:extLst>
                    <a:ext uri="{9D8B030D-6E8A-4147-A177-3AD203B41FA5}">
                      <a16:colId xmlns:a16="http://schemas.microsoft.com/office/drawing/2014/main" val="2354702566"/>
                    </a:ext>
                  </a:extLst>
                </a:gridCol>
                <a:gridCol w="2490828">
                  <a:extLst>
                    <a:ext uri="{9D8B030D-6E8A-4147-A177-3AD203B41FA5}">
                      <a16:colId xmlns:a16="http://schemas.microsoft.com/office/drawing/2014/main" val="1885943284"/>
                    </a:ext>
                  </a:extLst>
                </a:gridCol>
                <a:gridCol w="2883647">
                  <a:extLst>
                    <a:ext uri="{9D8B030D-6E8A-4147-A177-3AD203B41FA5}">
                      <a16:colId xmlns:a16="http://schemas.microsoft.com/office/drawing/2014/main" val="411994412"/>
                    </a:ext>
                  </a:extLst>
                </a:gridCol>
              </a:tblGrid>
              <a:tr h="435112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Решение​</a:t>
                      </a:r>
                      <a:endParaRPr lang="ru-RU" b="1" i="0" dirty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Подход​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Данные​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Плюсы​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Минусы​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23986"/>
                  </a:ext>
                </a:extLst>
              </a:tr>
              <a:tr h="86983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GATAKU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GNN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сетевой трафик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высокая точность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высокая сложность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плохая масштабируемость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722206"/>
                  </a:ext>
                </a:extLst>
              </a:tr>
              <a:tr h="76144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KubAnomaly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MLP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метрики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высокая скорость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простота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работа с конкретными метриками​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63505"/>
                  </a:ext>
                </a:extLst>
              </a:tr>
              <a:tr h="108777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DeepLog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LSTM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журналы логирования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высокая точность​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отслеживание последовательностей​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долгий процесс обучения​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требуется предобработка логов​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45770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04EE3F2-DE16-4ECE-ACD2-E123D6BE1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3144" y="-1079291"/>
            <a:ext cx="142843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0C9A789-7472-476B-A875-828F2E65139B}"/>
              </a:ext>
            </a:extLst>
          </p:cNvPr>
          <p:cNvSpPr txBox="1">
            <a:spLocks/>
          </p:cNvSpPr>
          <p:nvPr/>
        </p:nvSpPr>
        <p:spPr>
          <a:xfrm>
            <a:off x="1042306" y="5047012"/>
            <a:ext cx="10311494" cy="1608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 рамках данной работы в качестве базового выбран подход, реализованный в системе </a:t>
            </a:r>
            <a:r>
              <a:rPr lang="ru-RU" sz="24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DeepLog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как наиболее подходящий для моделирования временных зависимостей.</a:t>
            </a:r>
            <a:r>
              <a:rPr lang="en-US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31FA96-A463-1055-2BF0-0F94BB41D0C5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70434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4CCB42-7A48-441A-92F8-575F0945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9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Математическая постановка задачи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4AE187-AAB2-494C-8C5A-60ECEE61EA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6908"/>
                <a:ext cx="10515600" cy="5174583"/>
              </a:xfrm>
            </p:spPr>
            <p:txBody>
              <a:bodyPr>
                <a:noAutofit/>
              </a:bodyPr>
              <a:lstStyle/>
              <a:p>
                <a:pPr marL="0" indent="0" algn="l" rtl="0" fontAlgn="base">
                  <a:buNone/>
                </a:pP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Обнаружение аномалий в 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audit-</a:t>
                </a: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логах 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Kubernetes </a:t>
                </a: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сводится к задаче </a:t>
                </a:r>
                <a:r>
                  <a:rPr lang="ru-RU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бинарной классификации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fontAlgn="base">
                  <a:buNone/>
                </a:pPr>
                <a:r>
                  <a:rPr lang="ru-RU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Формализация данных</a:t>
                </a:r>
                <a:r>
                  <a:rPr lang="en-US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</a:t>
                </a: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Последовательность событий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</a:t>
                </a: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 				</a:t>
                </a:r>
                <a14:m>
                  <m:oMath xmlns:m="http://schemas.openxmlformats.org/officeDocument/2006/math">
                    <m:r>
                      <a:rPr lang="ru-RU" sz="2000" dirty="0" smtClean="0">
                        <a:solidFill>
                          <a:srgbClr val="000000"/>
                        </a:solidFill>
                      </a:rPr>
                      <m:t>ℒ</m:t>
                    </m:r>
                    <m:r>
                      <a:rPr lang="ru-RU" sz="2000" i="0" dirty="0" smtClean="0">
                        <a:solidFill>
                          <a:srgbClr val="000000"/>
                        </a:solidFill>
                      </a:rPr>
                      <m:t>=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</a:rPr>
                          <m:t>e</m:t>
                        </m:r>
                      </m:e>
                      <m:sub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</a:rPr>
                          <m:t>1</m:t>
                        </m:r>
                      </m:sub>
                    </m:sSub>
                    <m:r>
                      <a:rPr lang="en-US" sz="2000" b="0" i="0" dirty="0" smtClean="0">
                        <a:solidFill>
                          <a:srgbClr val="000000"/>
                        </a:solidFill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</a:rPr>
                          <m:t>e</m:t>
                        </m:r>
                      </m:e>
                      <m:sub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</a:rPr>
                          <m:t>2</m:t>
                        </m:r>
                      </m:sub>
                    </m:sSub>
                    <m:r>
                      <a:rPr lang="en-US" sz="2000" b="0" i="0" dirty="0" smtClean="0">
                        <a:solidFill>
                          <a:srgbClr val="000000"/>
                        </a:solidFill>
                      </a:rPr>
                      <m:t> …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</a:rPr>
                          <m:t>T</m:t>
                        </m:r>
                      </m:sub>
                    </m:sSub>
                    <m:r>
                      <a:rPr lang="en-US" sz="2000" b="0" i="0" dirty="0" smtClean="0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Событие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</a:t>
                </a: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ru-RU" sz="2000" i="1" smtClean="0">
                            <a:solidFill>
                              <a:srgbClr val="000000"/>
                            </a:solidFill>
                          </a:rPr>
                          <m:t>𝑒</m:t>
                        </m:r>
                      </m:e>
                      <m:sub>
                        <m:r>
                          <a:rPr lang="ru-RU" sz="200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𝑢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, 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𝑛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, 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𝑖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Признаковое пространство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cs typeface="Times New Roman" panose="02020603050405020304" pitchFamily="18" charset="0"/>
                      </a:rPr>
                      <m:t>= </m:t>
                    </m:r>
                    <m:r>
                      <a:rPr lang="ru-RU" sz="2000" i="1" dirty="0" smtClean="0">
                        <a:solidFill>
                          <a:srgbClr val="000000"/>
                        </a:solidFill>
                      </a:rPr>
                      <m:t>𝛷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ru-RU" sz="2000" dirty="0" smtClean="0">
                        <a:solidFill>
                          <a:srgbClr val="000000"/>
                        </a:solidFill>
                      </a:rPr>
                      <m:t>∈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</a:rPr>
                          <m:t>d</m:t>
                        </m:r>
                      </m:sup>
                    </m:sSup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Множество архитектур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solidFill>
                          <a:srgbClr val="000000"/>
                        </a:solidFill>
                      </a:rPr>
                      <m:t>Α</m:t>
                    </m:r>
                    <m:r>
                      <a:rPr lang="ru-RU" sz="2000" i="1" smtClean="0">
                        <a:solidFill>
                          <a:srgbClr val="000000"/>
                        </a:solidFill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{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𝑎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}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Модель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ru-RU" sz="2000" i="1" smtClean="0">
                            <a:solidFill>
                              <a:srgbClr val="000000"/>
                            </a:solidFill>
                          </a:rPr>
                          <m:t>𝑓</m:t>
                        </m:r>
                      </m:e>
                      <m:sub>
                        <m:r>
                          <a:rPr lang="ru-RU" sz="2000" i="1" smtClean="0">
                            <a:solidFill>
                              <a:srgbClr val="000000"/>
                            </a:solidFill>
                          </a:rPr>
                          <m:t>𝛼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,</m:t>
                        </m:r>
                        <m:r>
                          <a:rPr lang="ru-RU" sz="2000" i="1" smtClean="0">
                            <a:solidFill>
                              <a:srgbClr val="000000"/>
                            </a:solidFill>
                          </a:rPr>
                          <m:t>𝜃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𝑑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 →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𝑅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Показатели аномальности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𝑆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𝛼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={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𝑠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…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𝑠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</a:rPr>
                          <m:t>𝛼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</a:rPr>
                      <m:t>)}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</a:rPr>
                      <m:t>}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marL="0" indent="0" fontAlgn="base">
                  <a:buNone/>
                </a:pPr>
                <a:endParaRPr lang="ru-RU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algn="l" rtl="0" fontAlgn="base">
                  <a:buFont typeface="+mj-lt"/>
                  <a:buAutoNum type="arabicPeriod"/>
                </a:pPr>
                <a:r>
                  <a:rPr lang="ru-RU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Обучение нейронной сети</a:t>
                </a:r>
                <a:r>
                  <a:rPr lang="en-US" sz="2000" b="1" i="0" dirty="0">
                    <a:solidFill>
                      <a:srgbClr val="000000"/>
                    </a:solidFill>
                    <a:effectLst/>
                    <a:cs typeface="Times New Roman" panose="02020603050405020304" pitchFamily="18" charset="0"/>
                  </a:rPr>
                  <a:t>​:</a:t>
                </a:r>
                <a:r>
                  <a:rPr lang="en-US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  <m:t>𝜃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  <m:t>𝛼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effectLst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</a:rPr>
                                      <m:t>𝑣𝑎𝑙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</a:rPr>
                                  <m:t>|</m:t>
                                </m:r>
                              </m:den>
                            </m:f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𝐹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(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𝑥</m:t>
                            </m:r>
                            <m:r>
                              <a:rPr lang="ru-RU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𝛼</m:t>
                            </m:r>
                            <m:r>
                              <a:rPr lang="ru-RU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𝜃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pPr marL="0" indent="0" algn="l" rtl="0" fontAlgn="base">
                  <a:buNone/>
                </a:pPr>
                <a:endParaRPr lang="en-US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pPr algn="l" rtl="0" fontAlgn="base">
                  <a:buFont typeface="+mj-lt"/>
                  <a:buAutoNum type="arabicPeriod" startAt="2"/>
                </a:pPr>
                <a:r>
                  <a:rPr lang="ru-RU" sz="2000" b="1" i="0" u="none" strike="noStrike" dirty="0">
                    <a:solidFill>
                      <a:srgbClr val="000000"/>
                    </a:solidFill>
                    <a:effectLst/>
                    <a:cs typeface="Times New Roman" panose="02020603050405020304" pitchFamily="18" charset="0"/>
                  </a:rPr>
                  <a:t>Выбор оптимальной архитектуры</a:t>
                </a:r>
                <a:r>
                  <a:rPr lang="ru-RU" sz="2000" b="1" i="0" dirty="0">
                    <a:solidFill>
                      <a:srgbClr val="000000"/>
                    </a:solidFill>
                    <a:effectLst/>
                    <a:cs typeface="Times New Roman" panose="02020603050405020304" pitchFamily="18" charset="0"/>
                  </a:rPr>
                  <a:t>​</a:t>
                </a:r>
                <a:r>
                  <a:rPr lang="en-US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  <m:t>∗</m:t>
                        </m:r>
                      </m:sup>
                    </m:sSup>
                    <m:r>
                      <a:rPr lang="ru-RU" sz="2000" b="0" i="1" smtClean="0">
                        <a:solidFill>
                          <a:srgbClr val="000000"/>
                        </a:solidFill>
                        <a:effectLst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effectLst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000000"/>
                                    </a:solidFill>
                                  </a:rPr>
                                  <m:t>m</m:t>
                                </m:r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𝑎𝑥</m:t>
                                </m:r>
                              </m:e>
                              <m:lim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𝑎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𝐴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</a:rPr>
                              <m:t>𝐴𝑈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𝑃𝑅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𝑡𝑒𝑠𝑡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pPr marL="457200" lvl="1" indent="0" fontAlgn="base">
                  <a:buNone/>
                </a:pPr>
                <a:endParaRPr lang="ru-RU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pPr marL="0" indent="0" algn="l" rtl="0" fontAlgn="base">
                  <a:buNone/>
                </a:pPr>
                <a:endParaRPr lang="ru-RU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endParaRPr lang="ru-RU" sz="20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4AE187-AAB2-494C-8C5A-60ECEE61EA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6908"/>
                <a:ext cx="10515600" cy="5174583"/>
              </a:xfrm>
              <a:blipFill>
                <a:blip r:embed="rId2"/>
                <a:stretch>
                  <a:fillRect l="-724" t="-1471" r="-12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2">
            <a:extLst>
              <a:ext uri="{FF2B5EF4-FFF2-40B4-BE49-F238E27FC236}">
                <a16:creationId xmlns:a16="http://schemas.microsoft.com/office/drawing/2014/main" id="{6F9E7C6A-9BA1-3934-97C5-A81E9341219B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8902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C7F7B-3057-4C74-B94B-211F254D9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17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Кодирование событий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audit-</a:t>
            </a:r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логов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Kubernetes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18866A4-57BB-4F0A-9161-D3D2D9180852}"/>
              </a:ext>
            </a:extLst>
          </p:cNvPr>
          <p:cNvSpPr/>
          <p:nvPr/>
        </p:nvSpPr>
        <p:spPr>
          <a:xfrm>
            <a:off x="747421" y="1439070"/>
            <a:ext cx="174928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событие аудита</a:t>
            </a:r>
            <a:r>
              <a:rPr lang="ru-RU" b="0" i="0" dirty="0">
                <a:solidFill>
                  <a:srgbClr val="000000"/>
                </a:solidFill>
                <a:effectLst/>
              </a:rPr>
              <a:t>​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7D67EFD-3236-4743-BCF1-56F705C99998}"/>
              </a:ext>
            </a:extLst>
          </p:cNvPr>
          <p:cNvSpPr/>
          <p:nvPr/>
        </p:nvSpPr>
        <p:spPr>
          <a:xfrm>
            <a:off x="747421" y="2833371"/>
            <a:ext cx="174928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Очистка и фильтрация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3827AC99-B197-4111-861D-492069197D0E}"/>
                  </a:ext>
                </a:extLst>
              </p:cNvPr>
              <p:cNvSpPr/>
              <p:nvPr/>
            </p:nvSpPr>
            <p:spPr>
              <a:xfrm>
                <a:off x="747420" y="4227672"/>
                <a:ext cx="1749287" cy="9144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</a:rPr>
                  <a:t>Кодирование признаков </a:t>
                </a:r>
                <a14:m>
                  <m:oMath xmlns:m="http://schemas.openxmlformats.org/officeDocument/2006/math">
                    <m:r>
                      <a:rPr lang="en-US" sz="1800" b="0" i="1" u="none" strike="noStrike" smtClean="0">
                        <a:solidFill>
                          <a:srgbClr val="000000"/>
                        </a:solidFill>
                        <a:effectLst/>
                      </a:rPr>
                      <m:t>𝑑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3827AC99-B197-4111-861D-492069197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20" y="4227672"/>
                <a:ext cx="1749287" cy="9144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2411F421-E258-42C1-82BB-43F97D3D594D}"/>
                  </a:ext>
                </a:extLst>
              </p:cNvPr>
              <p:cNvSpPr/>
              <p:nvPr/>
            </p:nvSpPr>
            <p:spPr>
              <a:xfrm>
                <a:off x="747419" y="5621973"/>
                <a:ext cx="1749287" cy="9144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</a:rPr>
                  <a:t>Вектор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dirty="0">
                          <a:solidFill>
                            <a:srgbClr val="000000"/>
                          </a:solidFill>
                        </a:rPr>
                        <m:t>∈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rgbClr val="000000"/>
                              </a:solidFill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rgbClr val="000000"/>
                              </a:solidFill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2411F421-E258-42C1-82BB-43F97D3D5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19" y="5621973"/>
                <a:ext cx="1749287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Объект 2">
            <a:extLst>
              <a:ext uri="{FF2B5EF4-FFF2-40B4-BE49-F238E27FC236}">
                <a16:creationId xmlns:a16="http://schemas.microsoft.com/office/drawing/2014/main" id="{6092F25C-DDC7-4B68-8DB7-2EA9D6CF1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844" y="1301911"/>
            <a:ext cx="4675356" cy="4641686"/>
          </a:xfrm>
        </p:spPr>
        <p:txBody>
          <a:bodyPr>
            <a:no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Time</a:t>
            </a:r>
            <a:r>
              <a:rPr lang="en-US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  <a:r>
              <a:rPr lang="ru-RU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endParaRPr lang="en-US" sz="1800" b="1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sin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/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cos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hour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sin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/</a:t>
            </a:r>
            <a:r>
              <a:rPr lang="ru-RU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cos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day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of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week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flag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working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hours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Verb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(16 verb: get, list, update …)</a:t>
            </a: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User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hashing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trick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(H=64) 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flags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- тип субъекта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(3)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UserAgent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6 user agents: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kubectl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helm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controller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browser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curl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other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0C2E158-1F24-4A4A-A6B9-3248601D5F6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622065" y="2353470"/>
            <a:ext cx="0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BBAC374-28D5-4BAC-8720-D877AAF353D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1622064" y="3747771"/>
            <a:ext cx="1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2629F1B-73A6-4E2F-AB2F-D487B546638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1622063" y="5142072"/>
            <a:ext cx="1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Объект 2">
            <a:extLst>
              <a:ext uri="{FF2B5EF4-FFF2-40B4-BE49-F238E27FC236}">
                <a16:creationId xmlns:a16="http://schemas.microsoft.com/office/drawing/2014/main" id="{38B72F8F-B255-4D6C-BEC9-9AEB07BE617F}"/>
              </a:ext>
            </a:extLst>
          </p:cNvPr>
          <p:cNvSpPr txBox="1">
            <a:spLocks/>
          </p:cNvSpPr>
          <p:nvPr/>
        </p:nvSpPr>
        <p:spPr>
          <a:xfrm>
            <a:off x="7410615" y="1301911"/>
            <a:ext cx="4738317" cy="4320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Resource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hashing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trick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(H=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64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flag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– конфиденциальность ресурса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Namespace</a:t>
            </a:r>
            <a:r>
              <a:rPr lang="en-US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3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типа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kube-system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prod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infra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IP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source</a:t>
            </a:r>
            <a:r>
              <a:rPr lang="en-US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3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типа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: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internal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cluster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external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Response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5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типов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1xx, 2xx, 3xx, 4xx, 5xx)</a:t>
            </a:r>
            <a:endParaRPr lang="en-US" sz="1800" b="0" i="0" u="none" strike="noStrike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flag failure</a:t>
            </a: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B86EF7AD-0314-49B4-A8E6-B7CEC8C3DFBB}"/>
              </a:ext>
            </a:extLst>
          </p:cNvPr>
          <p:cNvSpPr txBox="1">
            <a:spLocks/>
          </p:cNvSpPr>
          <p:nvPr/>
        </p:nvSpPr>
        <p:spPr>
          <a:xfrm>
            <a:off x="3230874" y="5949534"/>
            <a:ext cx="8820651" cy="914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ru-RU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Итоговая размерность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:</a:t>
            </a:r>
            <a:r>
              <a:rPr lang="ru-RU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 171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27200-86C0-6955-7E51-8DF37751EE7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65667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3F563-6EA0-4668-A6AE-1E3757D5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501"/>
            <a:ext cx="10515600" cy="1118961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Формирование набора данных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AC083E-4D70-41C7-BB7B-BB8E34FAE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6863" y="1470991"/>
            <a:ext cx="5573201" cy="4705972"/>
          </a:xfrm>
        </p:spPr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Источник данных: 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audit-логи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Kubernetes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Среда сбора: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экспериментальный кластер с включённым аудит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логированием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События для обучающей выборки генерировались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агентами с разными про</a:t>
            </a:r>
            <a:r>
              <a:rPr lang="ru-RU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филями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При создании тестовой выборки профилям 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добавились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аномальные сценарии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endParaRPr lang="ru-RU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ADF70E2-AFF7-4BD0-3805-4B1CCEA6621F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62A0B-ED93-039C-53FB-50CADC0D2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65" y="1033154"/>
            <a:ext cx="4947841" cy="571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977FD-4CFD-45A5-B739-ABDDDB23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205"/>
            <a:ext cx="10515600" cy="1050702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Анализ полученного набора данных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DCA6EDF-3078-4E08-BCC3-B2E0F6227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548014"/>
              </p:ext>
            </p:extLst>
          </p:nvPr>
        </p:nvGraphicFramePr>
        <p:xfrm>
          <a:off x="364178" y="1348715"/>
          <a:ext cx="6084123" cy="3657572"/>
        </p:xfrm>
        <a:graphic>
          <a:graphicData uri="http://schemas.openxmlformats.org/drawingml/2006/table">
            <a:tbl>
              <a:tblPr/>
              <a:tblGrid>
                <a:gridCol w="1870395">
                  <a:extLst>
                    <a:ext uri="{9D8B030D-6E8A-4147-A177-3AD203B41FA5}">
                      <a16:colId xmlns:a16="http://schemas.microsoft.com/office/drawing/2014/main" val="1775898850"/>
                    </a:ext>
                  </a:extLst>
                </a:gridCol>
                <a:gridCol w="1340173">
                  <a:extLst>
                    <a:ext uri="{9D8B030D-6E8A-4147-A177-3AD203B41FA5}">
                      <a16:colId xmlns:a16="http://schemas.microsoft.com/office/drawing/2014/main" val="802914405"/>
                    </a:ext>
                  </a:extLst>
                </a:gridCol>
                <a:gridCol w="2873555">
                  <a:extLst>
                    <a:ext uri="{9D8B030D-6E8A-4147-A177-3AD203B41FA5}">
                      <a16:colId xmlns:a16="http://schemas.microsoft.com/office/drawing/2014/main" val="2201564575"/>
                    </a:ext>
                  </a:extLst>
                </a:gridCol>
              </a:tblGrid>
              <a:tr h="765958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Выборка​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Кол-во событий​</a:t>
                      </a:r>
                      <a:endParaRPr lang="ru-RU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Особенности​</a:t>
                      </a:r>
                      <a:endParaRPr lang="ru-RU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23496"/>
                  </a:ext>
                </a:extLst>
              </a:tr>
              <a:tr h="98860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Обучающая (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140 305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обучения НС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Только нормальные событий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249719"/>
                  </a:ext>
                </a:extLst>
              </a:tr>
              <a:tr h="875819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Валидационная (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Val)​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46 768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Контроль обучения НС​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Только нормальные событий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796460"/>
                  </a:ext>
                </a:extLst>
              </a:tr>
              <a:tr h="98860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Тестовая​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45 237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Сравнение НС​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Нормальные + аномальные события​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47705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5330838-60E0-4EE0-8952-BDEEAF625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20340" y="-4818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Изображение выглядит как текст, снимок экрана, прямоуго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7F38D0-B4D6-4CD1-A1BA-23CDEC97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49" y="1371600"/>
            <a:ext cx="5103173" cy="453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537664D1-4FFB-4249-AE44-C1A3711D54DD}"/>
              </a:ext>
            </a:extLst>
          </p:cNvPr>
          <p:cNvSpPr txBox="1">
            <a:spLocks/>
          </p:cNvSpPr>
          <p:nvPr/>
        </p:nvSpPr>
        <p:spPr>
          <a:xfrm>
            <a:off x="461851" y="5155594"/>
            <a:ext cx="6378336" cy="1484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Большинство признаков слабо скоррелированы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Данные обладают высокой информативностью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Отсутствует сильная избыточность признаков</a:t>
            </a: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05B9A6-1DA9-F62C-5287-53E8C4DC9C8A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1511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1280F-A0C6-4D7D-8D9C-3D198687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03"/>
            <a:ext cx="10515600" cy="108103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Обучение моделей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FDAA0E-2635-4E52-9B5E-8F6188878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771" y="4053784"/>
            <a:ext cx="5382718" cy="2356688"/>
          </a:xfrm>
        </p:spPr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выполнялось на нормальных событиях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-логов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Использовалась функция потерь 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Оптимизация: 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Adam +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Stopping</a:t>
            </a:r>
            <a:endParaRPr lang="ru-RU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модели демонстрируют устойчивую сходимость и отсутствие переобучения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37E5A2-6DB6-4766-816E-309404434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77" y="4031672"/>
            <a:ext cx="5652654" cy="282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Изображение выглядит как текст, линия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94B6BD-3435-4E59-8EC7-F6762D1F3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7125"/>
            <a:ext cx="5933316" cy="296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9BAEEF-F597-4318-9698-7DE2923DD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316" y="970371"/>
            <a:ext cx="5955013" cy="297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A26E57D-1413-1CC2-2EFC-F4F92F5B403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32512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41ACC-8093-404F-AA6F-217022B75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42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Сравнение результатов моделей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7479BD4-90F2-45FD-8D12-DFB36C4FB9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624046"/>
              </p:ext>
            </p:extLst>
          </p:nvPr>
        </p:nvGraphicFramePr>
        <p:xfrm>
          <a:off x="1069702" y="1762333"/>
          <a:ext cx="9666516" cy="2524658"/>
        </p:xfrm>
        <a:graphic>
          <a:graphicData uri="http://schemas.openxmlformats.org/drawingml/2006/table">
            <a:tbl>
              <a:tblPr/>
              <a:tblGrid>
                <a:gridCol w="1611086">
                  <a:extLst>
                    <a:ext uri="{9D8B030D-6E8A-4147-A177-3AD203B41FA5}">
                      <a16:colId xmlns:a16="http://schemas.microsoft.com/office/drawing/2014/main" val="3485471357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1753175114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730812578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819810543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71306829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1072176150"/>
                    </a:ext>
                  </a:extLst>
                </a:gridCol>
              </a:tblGrid>
              <a:tr h="53150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Модель</a:t>
                      </a:r>
                      <a:r>
                        <a:rPr lang="ru-RU" sz="20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ROC-AUC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PR-AUC</a:t>
                      </a:r>
                      <a:r>
                        <a:rPr lang="en-US" sz="20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Precision</a:t>
                      </a:r>
                      <a:r>
                        <a:rPr lang="en-US" sz="20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Recall</a:t>
                      </a:r>
                      <a:r>
                        <a:rPr lang="en-US" sz="20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F1-score</a:t>
                      </a:r>
                      <a:r>
                        <a:rPr lang="en-US" sz="20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397398"/>
                  </a:ext>
                </a:extLst>
              </a:tr>
              <a:tr h="93013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Autoencoder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0.9998​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0.9963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0.914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  <a:r>
                        <a:rPr lang="ru-RU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0.955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17844"/>
                  </a:ext>
                </a:extLst>
              </a:tr>
              <a:tr h="53150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RNN-AE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0.9998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0.9973</a:t>
                      </a:r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0.935</a:t>
                      </a:r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  <a:r>
                        <a:rPr lang="ru-RU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0.967</a:t>
                      </a:r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86466"/>
                  </a:ext>
                </a:extLst>
              </a:tr>
              <a:tr h="53150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LSTM-AE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0.9999​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0.9996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0.931</a:t>
                      </a:r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  <a:r>
                        <a:rPr lang="ru-RU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0.964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9152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861C92E-7980-401D-B9B5-2D273C8EC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3040" y="-1168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3F8439-FFCA-6716-EDAD-3A758D9D4E8C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90527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41CC1-6A1C-43DD-94CF-AB9922F43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03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Архитектура 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1A35263-C878-4BE8-9C2B-A7C6BBA17099}"/>
              </a:ext>
            </a:extLst>
          </p:cNvPr>
          <p:cNvSpPr txBox="1">
            <a:spLocks/>
          </p:cNvSpPr>
          <p:nvPr/>
        </p:nvSpPr>
        <p:spPr>
          <a:xfrm>
            <a:off x="4595751" y="4700843"/>
            <a:ext cx="7499729" cy="19841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Master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управление системой и пользовательский интерфейс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Worker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обучение моделей и обнаружение аномалий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Redis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очередь задач между компонентами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OpenSearch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источник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audit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-логов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PostgreSQL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хранение метаданных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3D6BC0-AECD-7102-1195-FD937AB28367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D0853A-C78F-0C7E-1898-9C6A34425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38" y="1246804"/>
            <a:ext cx="8977745" cy="345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3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5F2F8-5207-4690-956F-8765ACE2C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3"/>
            <a:ext cx="10515600" cy="885974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Алгоритмы работы программы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6FBAF4A-ABAE-40B6-AB3E-FE7794F26498}"/>
              </a:ext>
            </a:extLst>
          </p:cNvPr>
          <p:cNvSpPr txBox="1">
            <a:spLocks/>
          </p:cNvSpPr>
          <p:nvPr/>
        </p:nvSpPr>
        <p:spPr>
          <a:xfrm>
            <a:off x="0" y="998946"/>
            <a:ext cx="2698446" cy="478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4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Обучение модели</a:t>
            </a:r>
            <a:endParaRPr lang="ru-RU" sz="1600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8C3CC25-6E89-4F07-94A6-C4DA60FE54BF}"/>
              </a:ext>
            </a:extLst>
          </p:cNvPr>
          <p:cNvSpPr txBox="1">
            <a:spLocks/>
          </p:cNvSpPr>
          <p:nvPr/>
        </p:nvSpPr>
        <p:spPr>
          <a:xfrm>
            <a:off x="6402086" y="1039167"/>
            <a:ext cx="4188988" cy="680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Обнаружение аномалий</a:t>
            </a:r>
            <a:endParaRPr lang="ru-RU" sz="1600" b="1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0F0C34-A164-F1EE-EE1E-E3F82B748274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4" name="Прямая соединительная линия 4">
            <a:extLst>
              <a:ext uri="{FF2B5EF4-FFF2-40B4-BE49-F238E27FC236}">
                <a16:creationId xmlns:a16="http://schemas.microsoft.com/office/drawing/2014/main" id="{2E4411E7-FE60-F98C-D01D-3927BC34350A}"/>
              </a:ext>
            </a:extLst>
          </p:cNvPr>
          <p:cNvCxnSpPr>
            <a:cxnSpLocks/>
          </p:cNvCxnSpPr>
          <p:nvPr/>
        </p:nvCxnSpPr>
        <p:spPr>
          <a:xfrm>
            <a:off x="5702711" y="1142693"/>
            <a:ext cx="0" cy="5715307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FCEE441-F35B-2953-15C5-1386DC186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80" y="1477134"/>
            <a:ext cx="4358005" cy="52276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FE4EB5-66AF-88ED-4260-316876801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04" y="1600279"/>
            <a:ext cx="4255346" cy="510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10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A624D-6FE2-4F27-A3D5-5AD56BD3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312"/>
            <a:ext cx="10515600" cy="1087095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Используемые технологии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2A57B-390E-4005-B95E-CABD32350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186" y="1253407"/>
            <a:ext cx="6477000" cy="4351338"/>
          </a:xfrm>
        </p:spPr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Python — язык реализации программного средства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FastAPI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Uvicorn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серверная часть и REST API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SQLAlchemy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asyncpg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PostgreSQL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работа с данными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Celery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асинхронное выполнение фоновых задач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PyTorch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обучение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нейросетевой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модели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scikit-learn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предобработка и оценка качества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OpenSearch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opensearch-py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источник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audit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-логов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pic>
        <p:nvPicPr>
          <p:cNvPr id="6146" name="Picture 2" descr="Introduction to Celery — Celery 5.5.3 documentation">
            <a:extLst>
              <a:ext uri="{FF2B5EF4-FFF2-40B4-BE49-F238E27FC236}">
                <a16:creationId xmlns:a16="http://schemas.microsoft.com/office/drawing/2014/main" id="{754BE2D8-5884-439D-99C4-0E92445F4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719" y="4271418"/>
            <a:ext cx="1705095" cy="170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ython (programming language) - Wikipedia">
            <a:extLst>
              <a:ext uri="{FF2B5EF4-FFF2-40B4-BE49-F238E27FC236}">
                <a16:creationId xmlns:a16="http://schemas.microsoft.com/office/drawing/2014/main" id="{08B49685-6989-439A-8FDB-24D6FCA8B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318" y="1644968"/>
            <a:ext cx="1411923" cy="141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FastAPI">
            <a:extLst>
              <a:ext uri="{FF2B5EF4-FFF2-40B4-BE49-F238E27FC236}">
                <a16:creationId xmlns:a16="http://schemas.microsoft.com/office/drawing/2014/main" id="{0E06C5BD-08BC-4C39-9142-AB83ADF50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241" y="1523351"/>
            <a:ext cx="3769360" cy="135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What is SQLAlchemy?. An intro to ORM and SQLAlchemy. | by Priya Srivastava  | Medium">
            <a:extLst>
              <a:ext uri="{FF2B5EF4-FFF2-40B4-BE49-F238E27FC236}">
                <a16:creationId xmlns:a16="http://schemas.microsoft.com/office/drawing/2014/main" id="{61206D35-6C71-4E9C-9681-4EAF34D26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2" y="2913122"/>
            <a:ext cx="3395740" cy="135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AWS OpenSearch Service and DNS. AWS OpenSearch Service (formerly… | by Ian  Binder | Towards AWS">
            <a:extLst>
              <a:ext uri="{FF2B5EF4-FFF2-40B4-BE49-F238E27FC236}">
                <a16:creationId xmlns:a16="http://schemas.microsoft.com/office/drawing/2014/main" id="{7BE38177-47A6-4B04-8E56-AC51C990D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472" y="4477200"/>
            <a:ext cx="2461255" cy="246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PostgreSQL - Wikipedia">
            <a:extLst>
              <a:ext uri="{FF2B5EF4-FFF2-40B4-BE49-F238E27FC236}">
                <a16:creationId xmlns:a16="http://schemas.microsoft.com/office/drawing/2014/main" id="{9D412539-886B-4488-BD0D-F69DB17FE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674" y="4622741"/>
            <a:ext cx="2139798" cy="220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Learning PyTorch: The Basic Program Structure | by Dagang Wei | Medium">
            <a:extLst>
              <a:ext uri="{FF2B5EF4-FFF2-40B4-BE49-F238E27FC236}">
                <a16:creationId xmlns:a16="http://schemas.microsoft.com/office/drawing/2014/main" id="{A2ADA5B5-96CE-4DD3-AC5C-8A3298098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48" y="4271418"/>
            <a:ext cx="4876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CAEE532F-8B15-7A3A-80E5-78731372580A}"/>
              </a:ext>
            </a:extLst>
          </p:cNvPr>
          <p:cNvSpPr txBox="1">
            <a:spLocks/>
          </p:cNvSpPr>
          <p:nvPr/>
        </p:nvSpPr>
        <p:spPr>
          <a:xfrm>
            <a:off x="11485982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13154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925CA-A0DF-4A17-BADA-4941EC923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102"/>
            <a:ext cx="10515600" cy="1156181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Разработка и тестирование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D2D3C6-C849-4B0F-104D-93B27299CD63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BDEFF51-91E7-B58C-9F8C-DF70ABD53648}"/>
              </a:ext>
            </a:extLst>
          </p:cNvPr>
          <p:cNvSpPr txBox="1">
            <a:spLocks/>
          </p:cNvSpPr>
          <p:nvPr/>
        </p:nvSpPr>
        <p:spPr>
          <a:xfrm>
            <a:off x="6409472" y="6072693"/>
            <a:ext cx="8081479" cy="348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  <a:hlinkClick r:id="rId2"/>
              </a:rPr>
              <a:t>https://github.com/GNDavydov/kubernetes-ad</a:t>
            </a:r>
            <a:endParaRPr 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endParaRPr lang="en-US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712B35-4E28-B6EC-E043-DA427C9FE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655" y="1295174"/>
            <a:ext cx="7526632" cy="19025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0E836B-56FC-665D-F4A0-BE5AA0348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472" y="1815626"/>
            <a:ext cx="5584606" cy="40922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A3C65F-4A17-7F4F-52A8-067A346C84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80" y="2708184"/>
            <a:ext cx="5964113" cy="371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76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8A2C4-7FBB-4858-97AE-D54827B42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12"/>
            <a:ext cx="10515600" cy="1215971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Организационно-экономическая часть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1E3235-E6B3-4398-820E-C41C5E553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79" y="1214006"/>
            <a:ext cx="7454603" cy="2594166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Для реализации проекта требуется </a:t>
            </a:r>
            <a:r>
              <a:rPr lang="ru-RU" sz="16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2 специалиста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</a:t>
            </a:r>
            <a:r>
              <a:rPr lang="en-US" sz="16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Аналитик</a:t>
            </a:r>
            <a:r>
              <a:rPr lang="en-US" sz="16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Инженер</a:t>
            </a:r>
            <a:r>
              <a:rPr lang="en-US" sz="16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Общая трудоёмкость выполнения работ по проекту составляет </a:t>
            </a:r>
            <a:r>
              <a:rPr lang="ru-RU" sz="16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128,4 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чел.-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дн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 дне</a:t>
            </a:r>
            <a:r>
              <a:rPr lang="ru-RU" sz="16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​й</a:t>
            </a:r>
            <a:endParaRPr lang="en-US" sz="16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Суммарные затраты на разработку и реализацию программного продукта составляют </a:t>
            </a:r>
            <a:r>
              <a:rPr lang="ru-RU" sz="1600" b="1" dirty="0">
                <a:solidFill>
                  <a:srgbClr val="000000"/>
                </a:solidFill>
                <a:cs typeface="Times New Roman" panose="02020603050405020304" pitchFamily="18" charset="0"/>
              </a:rPr>
              <a:t>3 017 244 </a:t>
            </a: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рублей</a:t>
            </a:r>
            <a:endParaRPr lang="en-US" sz="16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Ожидаемая прибыль от реализации одного экземпляра изделия составляет </a:t>
            </a:r>
            <a:r>
              <a:rPr lang="ru-RU" sz="1600" b="1" dirty="0">
                <a:solidFill>
                  <a:srgbClr val="000000"/>
                </a:solidFill>
                <a:cs typeface="Times New Roman" panose="02020603050405020304" pitchFamily="18" charset="0"/>
              </a:rPr>
              <a:t>655 200 </a:t>
            </a:r>
            <a:r>
              <a:rPr lang="ru-RU" sz="16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руб</a:t>
            </a: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​лей.</a:t>
            </a:r>
          </a:p>
          <a:p>
            <a:pPr marL="0" indent="0" fontAlgn="base">
              <a:buNone/>
            </a:pP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​</a:t>
            </a:r>
            <a:endParaRPr lang="en-US" sz="16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endParaRPr lang="ru-RU" sz="16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pic>
        <p:nvPicPr>
          <p:cNvPr id="7170" name="Picture 2" descr="Изображение выглядит как текст, снимок экрана, число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D33E12-3EB4-43E9-AD15-98BF9395C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" y="3897903"/>
            <a:ext cx="11196320" cy="274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26059DC8-7C47-84C9-7A31-B00B10B96662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pic>
        <p:nvPicPr>
          <p:cNvPr id="5" name="Picture 2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094BA1-A954-4A49-54E5-44BA628AB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463" y="900035"/>
            <a:ext cx="4268058" cy="290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947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D7101-2A69-47E0-88AE-44B5C2F2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407"/>
            <a:ext cx="10515600" cy="107479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Организационно-правовая часть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227B39-D97B-457E-8A20-68EA28044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568" y="1457489"/>
            <a:ext cx="10741231" cy="4575175"/>
          </a:xfrm>
        </p:spPr>
        <p:txBody>
          <a:bodyPr>
            <a:normAutofit/>
          </a:bodyPr>
          <a:lstStyle/>
          <a:p>
            <a:pPr marL="0" indent="0" algn="l" rtl="0" fontAlgn="base">
              <a:buNone/>
            </a:pP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 рамках правового анализа были рассмотрены следующие нормативные правовые акты:</a:t>
            </a:r>
            <a:r>
              <a:rPr lang="en-US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Конституция Российской Федерации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ФЗ №149-ФЗ «Об информации, информационных технологиях и о защите информации»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ФЗ №152-ФЗ «О персональных данных»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ФЗ №187-ФЗ «О безопасности критической информационной инфраструктуры РФ»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Постановление Правительства РФ №1119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Приказ ФСТЭК России №21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Приказ ФСТЭК России №117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ru-RU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endParaRPr lang="ru-RU" sz="2000" dirty="0"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DE778AC-5652-74DA-5E37-BF60278EEA2F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316581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F38A6-98F6-430D-BBCF-91F49935B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75"/>
            <a:ext cx="10515600" cy="970702"/>
          </a:xfrm>
        </p:spPr>
        <p:txBody>
          <a:bodyPr>
            <a:normAutofit/>
          </a:bodyPr>
          <a:lstStyle/>
          <a:p>
            <a:r>
              <a:rPr lang="ru-RU" sz="3600" b="1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Заключение</a:t>
            </a:r>
            <a:r>
              <a:rPr lang="ru-RU" sz="3600" b="1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7A9FFE-39DA-4BC0-8138-124B6636C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937"/>
            <a:ext cx="10515600" cy="5191401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 рамках выпускной квалификационной работы выполнены поставленные задачи: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Проведён анализ методов обнаружения аномалий и особенностей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Kubernetes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Рассмотрены существующие подходы обнаружения аномалий в 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Kubernetes-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кластере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  <a:endParaRPr lang="en-US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Сформулирована математическая постановка задачи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  <a:endParaRPr lang="en-US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Сформирован набор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audit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-логов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Проведено обучение различных моделей: LSTM-AE, RNN-AE, AE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Выбрана НС на основе LSTM-AE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  <a:endParaRPr lang="en-US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Разработана архитектура 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средства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(Master–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Worker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Реализовано программное средство обнаружения аномалий и проведено его тестирование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Обоснована экономическая целесообразность решения</a:t>
            </a:r>
            <a:r>
              <a:rPr lang="en-US" sz="1800" u="none" strike="noStrike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Приведено правовое обоснование выполнения выпускной работы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​.</a:t>
            </a:r>
            <a:endParaRPr lang="ru-RU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ECEC799A-F348-D1F4-940C-68B5929A8912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14988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9044-D881-37F2-A78B-1AE3AB311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4BF8B3-E7E0-6575-A717-E0EE6D50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75"/>
            <a:ext cx="10515600" cy="970702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+mn-lt"/>
              </a:rPr>
              <a:t>Перспективы развития разработанного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21EC1-EE26-CCE2-EF00-338A4847E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937"/>
            <a:ext cx="10515600" cy="5191401"/>
          </a:xfrm>
        </p:spPr>
        <p:txBody>
          <a:bodyPr>
            <a:noAutofit/>
          </a:bodyPr>
          <a:lstStyle/>
          <a:p>
            <a:r>
              <a:rPr lang="ru-RU" sz="2000" b="1" dirty="0"/>
              <a:t>Интеграция разработанной системы с инструментами мониторинга</a:t>
            </a:r>
            <a:r>
              <a:rPr lang="ru-RU" sz="2000" dirty="0"/>
              <a:t>, </a:t>
            </a:r>
            <a:r>
              <a:rPr lang="en-US" sz="2000" dirty="0"/>
              <a:t>SIEM- </a:t>
            </a:r>
            <a:r>
              <a:rPr lang="ru-RU" sz="2000" dirty="0"/>
              <a:t>и </a:t>
            </a:r>
            <a:r>
              <a:rPr lang="en-US" sz="2000" dirty="0"/>
              <a:t>SOAR-</a:t>
            </a:r>
            <a:r>
              <a:rPr lang="ru-RU" sz="2000" dirty="0"/>
              <a:t>платформами для централизованного анализа событий безопасности и автоматизации реагирования на инциденты;</a:t>
            </a:r>
          </a:p>
          <a:p>
            <a:r>
              <a:rPr lang="ru-RU" sz="2000" b="1" dirty="0"/>
              <a:t>Расширение набора используемых моделей НС</a:t>
            </a:r>
            <a:r>
              <a:rPr lang="ru-RU" sz="2000" dirty="0"/>
              <a:t>, включая исследование </a:t>
            </a:r>
            <a:r>
              <a:rPr lang="ru-RU" sz="2000" dirty="0" err="1"/>
              <a:t>трансформерных</a:t>
            </a:r>
            <a:r>
              <a:rPr lang="ru-RU" sz="2000" dirty="0"/>
              <a:t> архитектур, гибридных моделей и методов адаптивного обучения;</a:t>
            </a:r>
          </a:p>
          <a:p>
            <a:r>
              <a:rPr lang="ru-RU" sz="2000" b="1" dirty="0"/>
              <a:t>Адаптация системы под различные типы инфраструктур</a:t>
            </a:r>
            <a:r>
              <a:rPr lang="ru-RU" sz="2000" dirty="0"/>
              <a:t>, включая облачные, гибридные и </a:t>
            </a:r>
            <a:r>
              <a:rPr lang="ru-RU" sz="2000" dirty="0" err="1"/>
              <a:t>мультикластерные</a:t>
            </a:r>
            <a:r>
              <a:rPr lang="ru-RU" sz="2000" dirty="0"/>
              <a:t> среды, а также поддержку других платформ контейнерной </a:t>
            </a:r>
            <a:r>
              <a:rPr lang="ru-RU" sz="2000" dirty="0" err="1"/>
              <a:t>оркестрации</a:t>
            </a:r>
            <a:r>
              <a:rPr lang="ru-RU" sz="2000" dirty="0"/>
              <a:t>;</a:t>
            </a:r>
          </a:p>
          <a:p>
            <a:r>
              <a:rPr lang="ru-RU" sz="2000" b="1" dirty="0"/>
              <a:t>Разработка средств визуализации цепочек аномальных событий </a:t>
            </a:r>
            <a:r>
              <a:rPr lang="ru-RU" sz="2000" dirty="0"/>
              <a:t>и механизмов интерпретации результатов работы модели для повышения удобства анализа инцидентов специалистами по информационной безопасности.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8B91731-3C77-82C0-516E-5740F51D5962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1855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1134</Words>
  <Application>Microsoft Macintosh PowerPoint</Application>
  <PresentationFormat>Widescreen</PresentationFormat>
  <Paragraphs>251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Times New Roman</vt:lpstr>
      <vt:lpstr>Тема Office</vt:lpstr>
      <vt:lpstr>Разработка средства обнаружения аномалий в Kubernetes-кластере на основе нейронных сетей​</vt:lpstr>
      <vt:lpstr>Цель и задачи ВКР​</vt:lpstr>
      <vt:lpstr>Обзор методов​</vt:lpstr>
      <vt:lpstr>Анализ существующих решений​</vt:lpstr>
      <vt:lpstr>Математическая постановка задачи​</vt:lpstr>
      <vt:lpstr>Кодирование событий audit-логов Kubernetes​</vt:lpstr>
      <vt:lpstr>Формирование набора данных​</vt:lpstr>
      <vt:lpstr>Анализ полученного набора данных​</vt:lpstr>
      <vt:lpstr>Обучение моделей​</vt:lpstr>
      <vt:lpstr>Сравнение результатов моделей</vt:lpstr>
      <vt:lpstr>Архитектура ​</vt:lpstr>
      <vt:lpstr>Алгоритмы работы программы​</vt:lpstr>
      <vt:lpstr>Используемые технологии​</vt:lpstr>
      <vt:lpstr>Разработка и тестирование​</vt:lpstr>
      <vt:lpstr>Организационно-экономическая часть​</vt:lpstr>
      <vt:lpstr>Организационно-правовая часть​</vt:lpstr>
      <vt:lpstr>Заключение​</vt:lpstr>
      <vt:lpstr>Перспективы развития разработанного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средства обнаружения аномалий в Kubernetes-кластере на основе нейронных сетей​</dc:title>
  <dc:creator>Давыдов Григорий Никитич</dc:creator>
  <cp:lastModifiedBy>Nikolai Davydov</cp:lastModifiedBy>
  <cp:revision>39</cp:revision>
  <dcterms:created xsi:type="dcterms:W3CDTF">2026-04-21T13:12:14Z</dcterms:created>
  <dcterms:modified xsi:type="dcterms:W3CDTF">2026-05-11T16:28:32Z</dcterms:modified>
</cp:coreProperties>
</file>
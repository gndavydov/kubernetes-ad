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D2522-8A0C-4C4C-8687-64A04BB1C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17B7B1-FEE6-47EF-8587-0FF592E6D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09288B-BEA7-4F73-9D99-7DB1003D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719DEB-9802-4EBF-96DC-7DBFEDE3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8489C-BD1D-48AD-850D-B6F196CF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80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30EE9-7A6E-4809-8B22-B43C6519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049B69-39BB-4D38-83C0-2542898F2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B0A07-6C76-4E2B-95D7-C0105DEA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35944D-6296-4144-8EDD-452949F2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36F7A-5E95-4634-AD65-304C3EC7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8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4A78C-982F-45C9-82A1-344F8BBE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0BB34-D024-4C58-9849-DDAF4F52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105A2-B0DB-43CA-8909-FE5754DC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2A6F11-E72D-4DAC-965B-BD31870E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266DE-2231-42C0-9B4C-D9940796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0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BCC17-3DD9-4B30-8D47-4B86579B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CD02A-1483-4EE6-AE7F-3341EF253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76C3DC-17B4-4F23-8682-5F93E6DD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6C3241-9B5D-4685-8FAC-6B0C89B0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7C779-61B4-43EF-88C7-1E689D8F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595C58-FB3F-4EDD-8BF9-15C1CB0B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56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6CAF7-8C5F-461F-A853-C59E2CB9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C329A4-0045-448D-80CB-4AF6EED0C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B4981F-76DA-450C-9349-D98BBE841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D62AAA-2B9E-406C-B055-677EDDB6F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76F746-84D9-471B-A876-143CFE151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37AD53-1EDE-47C4-9BD7-9E3501EF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C614F9-75D8-4595-BBE3-9E17BF25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62DAA7-8AEF-438E-B467-AB0CF8BA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2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70A60-6E6F-4D43-B3F9-F7DFE7D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E1B430-99EE-4C80-BD0B-21115CDF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81380E-E09A-4F2E-AE90-B886999B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4113F7-5C64-4913-A497-9B7BAAC7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49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D6E00B-AF4F-437A-B9AC-69DC42D6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3DBE2B-6038-4E71-B871-67839977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708C83-3FAD-49AF-BDD8-D26FF2FB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30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B3823-B986-4A95-8F9F-D228F142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BB366-6AF4-427B-B2F6-DF33F5C1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275EC-A5F9-4D1E-B78F-ED5059CD6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DFBF34-FC9D-4822-8700-C35F1FDC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15C81-3D78-4E35-A7C5-967BC8F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993FB-637C-4D82-8E8F-38832849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1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3E798-2491-421D-84DB-4F38959A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3717AE-095F-4DC3-B1B9-6C8562351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9DBEB9-A024-453F-9B58-4FC151C0A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9135C8-DC33-481B-A91B-F3151991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15C30D-2BB6-4689-BBE6-16F0CD0A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226AD4-4425-4BB4-84D5-4ADB058A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7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072C1-3B26-4794-8AAC-0D3AEFF5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E193DA-4A17-4F39-A5EC-A8331F618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860AD-D63B-4ACC-8CE4-58E13EA4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CC770-B572-4F14-9FC4-521EA20D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489D5A-D9A2-4941-ADBD-9314E20E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5F7F7B-684A-4A2A-B44B-2A64C3562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96BFCB-FD5A-4460-9D66-9A78C593C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BA282-60A8-4793-BA3C-CDD3F7D4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98F096-0BE5-4C99-B411-6BB2ACAB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6FA51-95D8-4E6B-B156-CE09D47F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8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87BBE-0F10-4332-8581-0D803EF7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8FCA94-0E51-4688-A67B-3C25C82B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A2DB2-B0EB-484C-84F4-3E3AED35C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9C1F6-7819-4276-8CF8-A4838A687BA1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0C7DA3-3705-4742-A505-B0B0CE072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862BFD-2645-4B21-93D0-BBAC2DC40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44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B58B8-6901-4209-89EF-31B4D5437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Разработка средства обнаружения аномалий в </a:t>
            </a:r>
            <a:r>
              <a:rPr lang="ru-RU" sz="3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Kubernetes</a:t>
            </a:r>
            <a:r>
              <a:rPr lang="ru-RU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-кластере на основе нейронных сетей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834795-7DE4-44CD-98D0-048E6E663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rtl="0" fontAlgn="base"/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Докладчик: студент группы ИУ8-121 Давыдов Г. Н.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/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Научный руководитель: старший преподаватель кафедры ИУ8 Гудков О. В.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ru-RU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35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507C3-63FE-4386-AFF8-D04D89E1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ВКР​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D05A3-6342-4326-877E-F38536E0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fontAlgn="base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средства обнаружения аномалий в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Kubernetes-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кластере на основе нейронных сетей, предназначенное для выявления подозрительных или потенциально опасных действий пользователей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методов обнаружения аномалий в информационных системах и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Обзор и анализ существующих решений;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математической постановки задачи и выбор метода решения;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набора данных для обучения моделей;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сравнительный анализ моделей;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архитектуры системы обнаружения аномалий;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программного средства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fontAlgn="base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экономической целесообразности  выпускной квалификационной работы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действующего законодательства Российской Федерации, регулирующего правовое обоснование выполнения выпускной квалификационной работы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29DBD63-DC22-F288-2E6F-7A93CD1896B6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A7732-7237-4870-9774-C7E4A889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6E066-DDAD-402D-B914-E79542592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стал стандартом для управления контейнерами в корпоративной среде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Более 80% организаций используют </a:t>
            </a:r>
            <a:r>
              <a:rPr lang="ru-RU" sz="2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 облачных и </a:t>
            </a:r>
            <a:r>
              <a:rPr lang="ru-RU" sz="2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микросервисных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 увеличивает поверхность атак и риск аномальной активности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 числа атак на облачные и контейнерные инфраструктуры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анализ логов становится невозможным при масштабировании систем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0BC55BB-4F31-B0FA-9F43-EED57CBA3A84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D6C4B-38E2-4871-8544-AC7623FC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Обзор методов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030B2-1866-4BDF-AF96-B4C6B3517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84" y="1690688"/>
            <a:ext cx="3570514" cy="4351338"/>
          </a:xfrm>
        </p:spPr>
        <p:txBody>
          <a:bodyPr>
            <a:normAutofit fontScale="85000" lnSpcReduction="10000"/>
          </a:bodyPr>
          <a:lstStyle/>
          <a:p>
            <a:pPr marL="0" indent="0" algn="l" rtl="0" fontAlgn="base">
              <a:buNone/>
            </a:pPr>
            <a:r>
              <a:rPr lang="ru-RU" sz="2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методы:</a:t>
            </a:r>
            <a:r>
              <a:rPr lang="ru-RU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Сигнатурный анализ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Правил-ориентированные методы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Пороговые методы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белых и чёрных списков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основанные на марковских процессах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ru-RU" sz="2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требуют обучения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 на заранее заданных правилах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 для известных угроз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выявляют новые типы атак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88C8D59-84CA-4DC9-AAEC-C3006888E9B9}"/>
              </a:ext>
            </a:extLst>
          </p:cNvPr>
          <p:cNvSpPr txBox="1">
            <a:spLocks/>
          </p:cNvSpPr>
          <p:nvPr/>
        </p:nvSpPr>
        <p:spPr>
          <a:xfrm>
            <a:off x="4408714" y="1690688"/>
            <a:ext cx="3570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</a:t>
            </a:r>
            <a:r>
              <a:rPr lang="ru-RU" sz="2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K-ближайших соседей (K-NN)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en-US" sz="21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2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на исторических данных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статистических отклонений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Подходит для поиска неизвестных аномалий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 качественных данных и настройки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51AC96E-74F2-42DB-A3FA-E5A15F5E0696}"/>
              </a:ext>
            </a:extLst>
          </p:cNvPr>
          <p:cNvSpPr txBox="1">
            <a:spLocks/>
          </p:cNvSpPr>
          <p:nvPr/>
        </p:nvSpPr>
        <p:spPr>
          <a:xfrm>
            <a:off x="8217437" y="1602980"/>
            <a:ext cx="3570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сети: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Рекуррентные нейронные сети (RNN)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Сети с долгой краткосрочной памятью (LSTM)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Автоэнкодеры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(AE)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последовательностями данных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Учёт временных зависимостей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сложных нелинейных аномалий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точность на логах и метриках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BA6CC06-F855-4038-BE22-3CFBB37E8907}"/>
              </a:ext>
            </a:extLst>
          </p:cNvPr>
          <p:cNvCxnSpPr>
            <a:cxnSpLocks/>
          </p:cNvCxnSpPr>
          <p:nvPr/>
        </p:nvCxnSpPr>
        <p:spPr>
          <a:xfrm>
            <a:off x="4313298" y="1682490"/>
            <a:ext cx="0" cy="40424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450320A-1C16-498B-89CA-33867A6EC702}"/>
              </a:ext>
            </a:extLst>
          </p:cNvPr>
          <p:cNvCxnSpPr>
            <a:cxnSpLocks/>
          </p:cNvCxnSpPr>
          <p:nvPr/>
        </p:nvCxnSpPr>
        <p:spPr>
          <a:xfrm>
            <a:off x="7979228" y="1690688"/>
            <a:ext cx="0" cy="40424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Объект 2">
            <a:extLst>
              <a:ext uri="{FF2B5EF4-FFF2-40B4-BE49-F238E27FC236}">
                <a16:creationId xmlns:a16="http://schemas.microsoft.com/office/drawing/2014/main" id="{06DC3AB5-3777-8673-8B64-E0C47FC8071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59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5057E-466A-4E71-B7B6-4BE7FCAC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43B636-EDB3-4A06-B724-F0FAF3DE7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893446"/>
              </p:ext>
            </p:extLst>
          </p:nvPr>
        </p:nvGraphicFramePr>
        <p:xfrm>
          <a:off x="1042306" y="1690688"/>
          <a:ext cx="10311493" cy="2834640"/>
        </p:xfrm>
        <a:graphic>
          <a:graphicData uri="http://schemas.openxmlformats.org/drawingml/2006/table">
            <a:tbl>
              <a:tblPr/>
              <a:tblGrid>
                <a:gridCol w="1455215">
                  <a:extLst>
                    <a:ext uri="{9D8B030D-6E8A-4147-A177-3AD203B41FA5}">
                      <a16:colId xmlns:a16="http://schemas.microsoft.com/office/drawing/2014/main" val="3014374452"/>
                    </a:ext>
                  </a:extLst>
                </a:gridCol>
                <a:gridCol w="1321300">
                  <a:extLst>
                    <a:ext uri="{9D8B030D-6E8A-4147-A177-3AD203B41FA5}">
                      <a16:colId xmlns:a16="http://schemas.microsoft.com/office/drawing/2014/main" val="3363837146"/>
                    </a:ext>
                  </a:extLst>
                </a:gridCol>
                <a:gridCol w="2160503">
                  <a:extLst>
                    <a:ext uri="{9D8B030D-6E8A-4147-A177-3AD203B41FA5}">
                      <a16:colId xmlns:a16="http://schemas.microsoft.com/office/drawing/2014/main" val="2354702566"/>
                    </a:ext>
                  </a:extLst>
                </a:gridCol>
                <a:gridCol w="2490828">
                  <a:extLst>
                    <a:ext uri="{9D8B030D-6E8A-4147-A177-3AD203B41FA5}">
                      <a16:colId xmlns:a16="http://schemas.microsoft.com/office/drawing/2014/main" val="1885943284"/>
                    </a:ext>
                  </a:extLst>
                </a:gridCol>
                <a:gridCol w="2883647">
                  <a:extLst>
                    <a:ext uri="{9D8B030D-6E8A-4147-A177-3AD203B41FA5}">
                      <a16:colId xmlns:a16="http://schemas.microsoft.com/office/drawing/2014/main" val="41199441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Плюсы​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Минусы​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398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GATAKU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сетевой трафик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точность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сложность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плохая масштабируемость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222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KubAnomaly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метрики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скорость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точность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с конкретными метриками​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635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DeepLog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журналы логирования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точость​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отслеживание последовательностей​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долгий процесс обучения​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требуется предобработка логов​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45770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04EE3F2-DE16-4ECE-ACD2-E123D6BE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3144" y="-1079291"/>
            <a:ext cx="14284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0C9A789-7472-476B-A875-828F2E65139B}"/>
              </a:ext>
            </a:extLst>
          </p:cNvPr>
          <p:cNvSpPr txBox="1">
            <a:spLocks/>
          </p:cNvSpPr>
          <p:nvPr/>
        </p:nvSpPr>
        <p:spPr>
          <a:xfrm>
            <a:off x="1042306" y="4778734"/>
            <a:ext cx="10311494" cy="1877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данной работы в качестве базового выбран подход, реализованный в системе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DeepLog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как наиболее подходящий для моделирования временных зависимостей.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1FA96-A463-1055-2BF0-0F94BB41D0C5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3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CCB42-7A48-441A-92F8-575F0945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постановка задачи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l" rtl="0" fontAlgn="base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Обнаружение аномалий в 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audit-</a:t>
                </a:r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логах 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Kubernetes </a:t>
                </a:r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</a:t>
                </a:r>
                <a:r>
                  <a:rPr lang="ru-RU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бинарной классификации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fontAlgn="base">
                  <a:buNone/>
                </a:pPr>
                <a:r>
                  <a:rPr lang="ru-RU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Формализация данных</a:t>
                </a:r>
                <a:r>
                  <a:rPr lang="en-US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fontAlgn="base"/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Последовательность событий</a:t>
                </a:r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ru-RU" sz="14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4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Событие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Признаковое пространство</a:t>
                </a:r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ru-RU" sz="1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sz="1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u-RU" sz="14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4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Множество архитектур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ru-RU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</a:t>
                </a: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/>
                </a:pPr>
                <a:r>
                  <a:rPr lang="ru-RU" sz="14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 нейронной сети</a:t>
                </a:r>
                <a:r>
                  <a:rPr lang="en-US" sz="14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  <a:p>
                <a:pPr marL="0" indent="0" algn="l" rtl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ru-RU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4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 startAt="2"/>
                </a:pPr>
                <a:r>
                  <a:rPr lang="ru-RU" sz="1400" b="1" i="0" u="none" strike="noStrike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оптимальной архитектуры</a:t>
                </a:r>
                <a:r>
                  <a:rPr lang="ru-RU" sz="1400" b="1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endParaRPr lang="en-US" sz="1400" b="1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e>
                                <m:lim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𝐴𝑈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4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fontAlgn="base">
                  <a:buNone/>
                </a:pPr>
                <a:endParaRPr lang="ru-RU" sz="14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 rtl="0" fontAlgn="base">
                  <a:buNone/>
                </a:pPr>
                <a:endParaRPr lang="ru-RU" sz="14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>
            <a:extLst>
              <a:ext uri="{FF2B5EF4-FFF2-40B4-BE49-F238E27FC236}">
                <a16:creationId xmlns:a16="http://schemas.microsoft.com/office/drawing/2014/main" id="{6F9E7C6A-9BA1-3934-97C5-A81E9341219B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2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C7F7B-3057-4C74-B94B-211F254D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1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Кодирование событий 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audit-</a:t>
            </a:r>
            <a:r>
              <a:rPr lang="ru-RU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логов </a:t>
            </a: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18866A4-57BB-4F0A-9161-D3D2D9180852}"/>
              </a:ext>
            </a:extLst>
          </p:cNvPr>
          <p:cNvSpPr/>
          <p:nvPr/>
        </p:nvSpPr>
        <p:spPr>
          <a:xfrm>
            <a:off x="747421" y="1439070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JSON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событие аудита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7D67EFD-3236-4743-BCF1-56F705C99998}"/>
              </a:ext>
            </a:extLst>
          </p:cNvPr>
          <p:cNvSpPr/>
          <p:nvPr/>
        </p:nvSpPr>
        <p:spPr>
          <a:xfrm>
            <a:off x="747421" y="2833371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Очистка и фильтрация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/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Aptos"/>
                  </a:rPr>
                  <a:t>Кодирование признаков </a:t>
                </a:r>
                <a14:m>
                  <m:oMath xmlns:m="http://schemas.openxmlformats.org/officeDocument/2006/math">
                    <m:r>
                      <a:rPr lang="en-US" sz="18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411F421-E258-42C1-82BB-43F97D3D594D}"/>
              </a:ext>
            </a:extLst>
          </p:cNvPr>
          <p:cNvSpPr/>
          <p:nvPr/>
        </p:nvSpPr>
        <p:spPr>
          <a:xfrm>
            <a:off x="747419" y="5621973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Вектор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x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принадлежит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6092F25C-DDC7-4B68-8DB7-2EA9D6CF1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844" y="1301911"/>
            <a:ext cx="4675356" cy="4065220"/>
          </a:xfrm>
        </p:spPr>
        <p:txBody>
          <a:bodyPr>
            <a:no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(H=64)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 тип субъекта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UserAgent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controller,browser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0C2E158-1F24-4A4A-A6B9-3248601D5F6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622065" y="2353470"/>
            <a:ext cx="0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BBAC374-28D5-4BAC-8720-D877AAF353D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622064" y="3747771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2629F1B-73A6-4E2F-AB2F-D487B546638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622063" y="5142072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Объект 2">
            <a:extLst>
              <a:ext uri="{FF2B5EF4-FFF2-40B4-BE49-F238E27FC236}">
                <a16:creationId xmlns:a16="http://schemas.microsoft.com/office/drawing/2014/main" id="{38B72F8F-B255-4D6C-BEC9-9AEB07BE617F}"/>
              </a:ext>
            </a:extLst>
          </p:cNvPr>
          <p:cNvSpPr txBox="1">
            <a:spLocks/>
          </p:cNvSpPr>
          <p:nvPr/>
        </p:nvSpPr>
        <p:spPr>
          <a:xfrm>
            <a:off x="7410615" y="1301911"/>
            <a:ext cx="4738317" cy="406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(H=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конфиденциальность ресурса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kube-system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(1xx, 2xx, 3xx, 4xx, 5xx)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B86EF7AD-0314-49B4-A8E6-B7CEC8C3DFBB}"/>
              </a:ext>
            </a:extLst>
          </p:cNvPr>
          <p:cNvSpPr txBox="1">
            <a:spLocks/>
          </p:cNvSpPr>
          <p:nvPr/>
        </p:nvSpPr>
        <p:spPr>
          <a:xfrm>
            <a:off x="3291840" y="5443182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размерность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171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27200-86C0-6955-7E51-8DF37751EE7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66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3F563-6EA0-4668-A6AE-1E3757D5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501"/>
            <a:ext cx="10515600" cy="1325563"/>
          </a:xfrm>
        </p:spPr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набора данных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C083E-4D70-41C7-BB7B-BB8E34FA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598" y="1470991"/>
            <a:ext cx="5573201" cy="4705972"/>
          </a:xfrm>
        </p:spPr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данных: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audit-логи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сбора: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экспериментальный кластер с включённым аудит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логиорванием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Нормальные события генерировались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агентами с разными про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филями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Тестовая выборка дополнена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аномальными сценариями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Изображение выглядит как текст, диаграмма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79506B-A257-4362-A9A4-2E69AAB11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" y="1234440"/>
            <a:ext cx="4942398" cy="551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CADF70E2-AFF7-4BD0-3805-4B1CCEA6621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977FD-4CFD-45A5-B739-ABDDDB23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полученного набора данных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DCA6EDF-3078-4E08-BCC3-B2E0F6227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129804"/>
              </p:ext>
            </p:extLst>
          </p:nvPr>
        </p:nvGraphicFramePr>
        <p:xfrm>
          <a:off x="777240" y="1690688"/>
          <a:ext cx="5196840" cy="39319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77589885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802914405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201564575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Выборка​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Кол-во событий​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Особенности​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23496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Обучающая (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Train)​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140 305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Обучения НС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Только нормальные событий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249719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Валидационная (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Val)​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46 768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Контроль обучения НС​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Только нормальные событий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9646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Тестовая​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45 237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Сравнение НС​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Нормальные + аномальные события​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770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330838-60E0-4EE0-8952-BDEEAF625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20340" y="-4818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Изображение выглядит как текст, снимок экрана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7F38D0-B4D6-4CD1-A1BA-23CDEC97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1371600"/>
            <a:ext cx="46291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37664D1-4FFB-4249-AE44-C1A3711D54DD}"/>
              </a:ext>
            </a:extLst>
          </p:cNvPr>
          <p:cNvSpPr txBox="1">
            <a:spLocks/>
          </p:cNvSpPr>
          <p:nvPr/>
        </p:nvSpPr>
        <p:spPr>
          <a:xfrm>
            <a:off x="838200" y="5486400"/>
            <a:ext cx="5573201" cy="207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признаков слабо скоррелированы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обладают высокой информативностью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сильная избыточность признаков</a:t>
            </a: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5B9A6-1DA9-F62C-5287-53E8C4DC9C8A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11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1280F-A0C6-4D7D-8D9C-3D198687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моделей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DAA0E-2635-4E52-9B5E-8F6188878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8686" y="4192843"/>
            <a:ext cx="5095114" cy="1984119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выполнялось на нормальных событиях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Использовалась функция потерь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Оптимизация: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 +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модели демонстрируют устойчивую сходимость и отсутствие переобучения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37E5A2-6DB6-4766-816E-309404434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16" y="4064633"/>
            <a:ext cx="5334000" cy="266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Изображение выглядит как текст,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94B6BD-3435-4E59-8EC7-F6762D1F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" y="1459866"/>
            <a:ext cx="5465956" cy="273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9BAEEF-F597-4318-9698-7DE2923DD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047" y="1361255"/>
            <a:ext cx="5406753" cy="270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A26E57D-1413-1CC2-2EFC-F4F92F5B403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1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41ACC-8093-404F-AA6F-217022B7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результатов моделей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7479BD4-90F2-45FD-8D12-DFB36C4FB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225949"/>
              </p:ext>
            </p:extLst>
          </p:nvPr>
        </p:nvGraphicFramePr>
        <p:xfrm>
          <a:off x="1719580" y="1964214"/>
          <a:ext cx="8366760" cy="1737360"/>
        </p:xfrm>
        <a:graphic>
          <a:graphicData uri="http://schemas.openxmlformats.org/drawingml/2006/table">
            <a:tbl>
              <a:tblPr/>
              <a:tblGrid>
                <a:gridCol w="1394460">
                  <a:extLst>
                    <a:ext uri="{9D8B030D-6E8A-4147-A177-3AD203B41FA5}">
                      <a16:colId xmlns:a16="http://schemas.microsoft.com/office/drawing/2014/main" val="3485471357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1753175114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3730812578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819810543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71306829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1072176150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Модель</a:t>
                      </a:r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ROC-AUC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PR-AUC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Precision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Recall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F1-score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9739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Autoencoder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0.99988​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0.99631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0.91394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1.00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0.95503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17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RNN-AE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0.99980​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0.99733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0.93542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1.00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0.96663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8646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LSTM-AE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0.99997​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0.99962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0.93097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1.00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0.96425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15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861C92E-7980-401D-B9B5-2D273C8EC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3040" y="-116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1314DC-E56F-47D6-B677-B836644F0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3994784"/>
            <a:ext cx="3475992" cy="260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CBAE2B-E985-4915-B143-896F32E39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553" y="3994784"/>
            <a:ext cx="3399367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648577-0709-4BF4-A96A-15263FE1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426" y="3994784"/>
            <a:ext cx="3399367" cy="254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83F8439-FFCA-6716-EDAD-3A758D9D4E8C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27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41CC1-6A1C-43DD-94CF-AB9922F4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Изображение выглядит как диаграмма, текст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F17420-4F5E-4E76-B9EB-C310792E05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0" y="1719262"/>
            <a:ext cx="81153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E1A35263-C878-4BE8-9C2B-A7C6BBA17099}"/>
              </a:ext>
            </a:extLst>
          </p:cNvPr>
          <p:cNvSpPr txBox="1">
            <a:spLocks/>
          </p:cNvSpPr>
          <p:nvPr/>
        </p:nvSpPr>
        <p:spPr>
          <a:xfrm>
            <a:off x="6096000" y="4700843"/>
            <a:ext cx="5999480" cy="1984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управление системой и пользовательский интерфейс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обучение моделей и обнаружение аномалий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очередь задач между компонентами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источник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хранение метаданных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D6BC0-AECD-7102-1195-FD937AB28367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13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5F2F8-5207-4690-956F-8765ACE2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работы программы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Изображение выглядит как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0E2CBA-D613-40BB-964A-6ADDB4A6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4" y="1988185"/>
            <a:ext cx="36331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Изображение выглядит как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A2650B-9E3D-4691-AF77-6F329E121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1690688"/>
            <a:ext cx="363315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66FBAF4A-ABAE-40B6-AB3E-FE7794F26498}"/>
              </a:ext>
            </a:extLst>
          </p:cNvPr>
          <p:cNvSpPr txBox="1">
            <a:spLocks/>
          </p:cNvSpPr>
          <p:nvPr/>
        </p:nvSpPr>
        <p:spPr>
          <a:xfrm>
            <a:off x="2970834" y="1825625"/>
            <a:ext cx="2698446" cy="3010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задачи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из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и кодирование событий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LSTM-AE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модели и метрик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12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8C3CC25-6E89-4F07-94A6-C4DA60FE54BF}"/>
              </a:ext>
            </a:extLst>
          </p:cNvPr>
          <p:cNvSpPr txBox="1">
            <a:spLocks/>
          </p:cNvSpPr>
          <p:nvPr/>
        </p:nvSpPr>
        <p:spPr>
          <a:xfrm>
            <a:off x="8775700" y="1825625"/>
            <a:ext cx="3357880" cy="2604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задачи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новых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последовательностей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 ошибки реконструкции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порогом и сохранение аномалий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0F0C34-A164-F1EE-EE1E-E3F82B748274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0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A624D-6FE2-4F27-A3D5-5AD56BD3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A57B-390E-4005-B95E-CABD3235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— язык реализации программного средства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серверная часть и REST API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asyncpg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работа с данными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Celery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асинхронное выполнение фоновых задач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обучение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нейросетевой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предобработка и оценка качества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OpenSearch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opensearch-py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источник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pic>
        <p:nvPicPr>
          <p:cNvPr id="6146" name="Picture 2" descr="Introduction to Celery — Celery 5.5.3 documentation">
            <a:extLst>
              <a:ext uri="{FF2B5EF4-FFF2-40B4-BE49-F238E27FC236}">
                <a16:creationId xmlns:a16="http://schemas.microsoft.com/office/drawing/2014/main" id="{754BE2D8-5884-439D-99C4-0E92445F4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006" y="3886445"/>
            <a:ext cx="1497275" cy="149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ython (programming language) - Wikipedia">
            <a:extLst>
              <a:ext uri="{FF2B5EF4-FFF2-40B4-BE49-F238E27FC236}">
                <a16:creationId xmlns:a16="http://schemas.microsoft.com/office/drawing/2014/main" id="{08B49685-6989-439A-8FDB-24D6FCA8B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318" y="1644968"/>
            <a:ext cx="1411923" cy="141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astAPI">
            <a:extLst>
              <a:ext uri="{FF2B5EF4-FFF2-40B4-BE49-F238E27FC236}">
                <a16:creationId xmlns:a16="http://schemas.microsoft.com/office/drawing/2014/main" id="{0E06C5BD-08BC-4C39-9142-AB83ADF50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241" y="1523351"/>
            <a:ext cx="3769360" cy="135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What is SQLAlchemy?. An intro to ORM and SQLAlchemy. | by Priya Srivastava  | Medium">
            <a:extLst>
              <a:ext uri="{FF2B5EF4-FFF2-40B4-BE49-F238E27FC236}">
                <a16:creationId xmlns:a16="http://schemas.microsoft.com/office/drawing/2014/main" id="{61206D35-6C71-4E9C-9681-4EAF34D2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2" y="2913122"/>
            <a:ext cx="3395740" cy="135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AWS OpenSearch Service and DNS. AWS OpenSearch Service (formerly… | by Ian  Binder | Towards AWS">
            <a:extLst>
              <a:ext uri="{FF2B5EF4-FFF2-40B4-BE49-F238E27FC236}">
                <a16:creationId xmlns:a16="http://schemas.microsoft.com/office/drawing/2014/main" id="{7BE38177-47A6-4B04-8E56-AC51C990D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032" y="4991101"/>
            <a:ext cx="1879120" cy="187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PostgreSQL - Wikipedia">
            <a:extLst>
              <a:ext uri="{FF2B5EF4-FFF2-40B4-BE49-F238E27FC236}">
                <a16:creationId xmlns:a16="http://schemas.microsoft.com/office/drawing/2014/main" id="{9D412539-886B-4488-BD0D-F69DB17FE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35" y="4662979"/>
            <a:ext cx="2139798" cy="220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Learning PyTorch: The Basic Program Structure | by Dagang Wei | Medium">
            <a:extLst>
              <a:ext uri="{FF2B5EF4-FFF2-40B4-BE49-F238E27FC236}">
                <a16:creationId xmlns:a16="http://schemas.microsoft.com/office/drawing/2014/main" id="{A2ADA5B5-96CE-4DD3-AC5C-8A329809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907" y="4676986"/>
            <a:ext cx="4876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CAEE532F-8B15-7A3A-80E5-78731372580A}"/>
              </a:ext>
            </a:extLst>
          </p:cNvPr>
          <p:cNvSpPr txBox="1">
            <a:spLocks/>
          </p:cNvSpPr>
          <p:nvPr/>
        </p:nvSpPr>
        <p:spPr>
          <a:xfrm>
            <a:off x="11485982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5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388B5-05D7-4B18-8D28-B2170BA8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классов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Изображение выглядит как текст, диаграмма, Технический чертеж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9E89A5-C63D-466C-B2D4-6C46DE4FB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45" y="2743835"/>
            <a:ext cx="5366681" cy="374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905085-2ADE-4E6E-9527-D7307ECD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886" y="3083368"/>
            <a:ext cx="5283153" cy="340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C0688EE7-F618-4EA2-85DB-689569A0BB46}"/>
              </a:ext>
            </a:extLst>
          </p:cNvPr>
          <p:cNvSpPr txBox="1">
            <a:spLocks/>
          </p:cNvSpPr>
          <p:nvPr/>
        </p:nvSpPr>
        <p:spPr>
          <a:xfrm>
            <a:off x="2834999" y="1539378"/>
            <a:ext cx="8081479" cy="3010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средство реализовано по принципам чистой архитектуры и разделено на слои: API,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Слои приложения разделяют ответственность между компонентами.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отвечает за API, аутентификацию и управление задачами.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выполняет обучение модели и детектирование аномалий асинхронно.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BE556-8DA9-3084-859B-3324B65B9BC9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14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925CA-A0DF-4A17-BADA-4941EC92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тестирование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2CC516-DF53-414E-B6BA-7AD4CB597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690688"/>
            <a:ext cx="7017049" cy="297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75EE4D-7796-4F56-AC58-5D63154D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09" y="1584963"/>
            <a:ext cx="4553585" cy="339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284C22-A634-4053-B43D-66C2D7F1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79" y="3429000"/>
            <a:ext cx="6847840" cy="298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7D2D3C6-C849-4B0F-104D-93B27299CD63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7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8A2C4-7FBB-4858-97AE-D54827B4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Организационно-экономическая часть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E3235-E6B3-4398-820E-C41C5E55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8680" cy="4351338"/>
          </a:xfrm>
        </p:spPr>
        <p:txBody>
          <a:bodyPr>
            <a:normAutofit/>
          </a:bodyPr>
          <a:lstStyle/>
          <a:p>
            <a:pPr marL="0" indent="0" algn="l" rtl="0" fontAlgn="base">
              <a:buNone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проекта требуется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специалиста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трудоёмкость выполнения работ по проекту составляет 1027,2 чел.-ч или 128,4 чел.-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дн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дне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​й</a:t>
            </a:r>
          </a:p>
        </p:txBody>
      </p:sp>
      <p:pic>
        <p:nvPicPr>
          <p:cNvPr id="7170" name="Picture 2" descr="Изображение выглядит как текст, снимок экрана, число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D33E12-3EB4-43E9-AD15-98BF9395C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" y="3743362"/>
            <a:ext cx="11196320" cy="27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26059DC8-7C47-84C9-7A31-B00B10B9666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947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86E14-089F-41CB-B5B6-3666256C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Организационно-экономическая часть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F5B6E-F75E-43EA-A721-0D8744D1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15480" cy="4351338"/>
          </a:xfrm>
        </p:spPr>
        <p:txBody>
          <a:bodyPr>
            <a:normAutofit/>
          </a:bodyPr>
          <a:lstStyle/>
          <a:p>
            <a:pPr algn="l" rtl="0" fontAlgn="base"/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Суммарные затраты на разработку и реализацию программного продукта составляют 3 017 244 рублей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​.</a:t>
            </a:r>
          </a:p>
          <a:p>
            <a:pPr algn="l" rtl="0" fontAlgn="base"/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Расчётная стоимость одного экземпляра программного продукта составляет 4 200 003 рубля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​.</a:t>
            </a:r>
          </a:p>
          <a:p>
            <a:pPr algn="l" rtl="0" fontAlgn="base"/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Ожидаемая прибыль от 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одного экземпляра изделия составляет 655 200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руб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лей.</a:t>
            </a:r>
            <a:endParaRPr lang="ru-RU" sz="2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907322-4205-44E2-ABD1-E9CF9B47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320" y="3551106"/>
            <a:ext cx="4434839" cy="3021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32FF4DC5-73AA-160E-5E76-3C394ADA22F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629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D7101-2A69-47E0-88AE-44B5C2F2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Организационно-правовая часть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27B39-D97B-457E-8A20-68EA2804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 fontAlgn="base">
              <a:buNone/>
            </a:pPr>
            <a:r>
              <a:rPr lang="ru-RU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правового анализа были рассмотрены следующие нормативные правовые акты: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Конституция Российской Федерации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ФЗ №149-ФЗ «Об информации, информационных технологиях и о защите информации»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ФЗ №152-ФЗ «О персональных данных»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ФЗ №187-ФЗ «О безопасности критической информационной инфраструктуры РФ»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Уголовный кодекс Российской Федерации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 Правительства РФ №1119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Приказ ФСТЭК России №21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Приказ ФСТЭК России №117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DE778AC-5652-74DA-5E37-BF60278EEA2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1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F38A6-98F6-430D-BBCF-91F49935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7A9FFE-39DA-4BC0-8138-124B6636C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7"/>
            <a:ext cx="10515600" cy="5191401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выпускной квалификационной работы выполнены поставленные задачи: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анализ методов обнаружения аномалий и особенностей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Сформулирована математическая постановка задачи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набор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обучение различных моделей: LSTM-AE, RNN-AE, AE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Выбрана НС на основе LSTM-AE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архитектура системы (Master–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программное средство обнаружения аномалий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Обоснована экономическая целесообразность решения</a:t>
            </a:r>
            <a:r>
              <a:rPr lang="en-US" sz="1600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Приведено правовое обоснование выполнения выпускной работы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​.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системы мониторинга и SIEM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набора моделей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 под различные инфраструктуры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endParaRPr lang="ru-RU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CEC799A-F348-D1F4-940C-68B5929A891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889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1113</Words>
  <Application>Microsoft Macintosh PowerPoint</Application>
  <PresentationFormat>Widescreen</PresentationFormat>
  <Paragraphs>270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 Math</vt:lpstr>
      <vt:lpstr>Courier New</vt:lpstr>
      <vt:lpstr>Segoe UI</vt:lpstr>
      <vt:lpstr>Times New Roman</vt:lpstr>
      <vt:lpstr>Тема Office</vt:lpstr>
      <vt:lpstr>Разработка средства обнаружения аномалий в Kubernetes-кластере на основе нейронных сетей​</vt:lpstr>
      <vt:lpstr>Цель и задачи ВКР​</vt:lpstr>
      <vt:lpstr>Актуальность​</vt:lpstr>
      <vt:lpstr>Обзор методов​</vt:lpstr>
      <vt:lpstr>Анализ существующих решений​</vt:lpstr>
      <vt:lpstr>Математическая постановка задачи​</vt:lpstr>
      <vt:lpstr>Кодирование событий audit-логов Kubernetes​</vt:lpstr>
      <vt:lpstr>Формирование набора данных​</vt:lpstr>
      <vt:lpstr>Анализ полученного набора данных​</vt:lpstr>
      <vt:lpstr>Обучение моделей​</vt:lpstr>
      <vt:lpstr>Сравнение результатов моделей</vt:lpstr>
      <vt:lpstr>Архитектура ​</vt:lpstr>
      <vt:lpstr>Алгоритмы работы программы​</vt:lpstr>
      <vt:lpstr>Используемые технологии​</vt:lpstr>
      <vt:lpstr>Диаграммы классов​</vt:lpstr>
      <vt:lpstr>Разработка и тестирование​</vt:lpstr>
      <vt:lpstr>Организационно-экономическая часть​</vt:lpstr>
      <vt:lpstr>Организационно-экономическая часть​</vt:lpstr>
      <vt:lpstr>Организационно-правовая часть​</vt:lpstr>
      <vt:lpstr>Заключение​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средства обнаружения аномалий в Kubernetes-кластере на основе нейронных сетей​</dc:title>
  <dc:creator>Давыдов Григорий Никитич</dc:creator>
  <cp:lastModifiedBy>Nikolai Davydov</cp:lastModifiedBy>
  <cp:revision>33</cp:revision>
  <dcterms:created xsi:type="dcterms:W3CDTF">2026-04-21T13:12:14Z</dcterms:created>
  <dcterms:modified xsi:type="dcterms:W3CDTF">2026-04-23T14:31:11Z</dcterms:modified>
</cp:coreProperties>
</file>